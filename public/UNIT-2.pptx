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9" r:id="rId7"/>
    <p:sldId id="261" r:id="rId8"/>
    <p:sldId id="270" r:id="rId9"/>
    <p:sldId id="271" r:id="rId10"/>
    <p:sldId id="268" r:id="rId11"/>
    <p:sldId id="272" r:id="rId12"/>
    <p:sldId id="273" r:id="rId13"/>
    <p:sldId id="274" r:id="rId14"/>
    <p:sldId id="275" r:id="rId15"/>
    <p:sldId id="276" r:id="rId16"/>
    <p:sldId id="277" r:id="rId17"/>
    <p:sldId id="278" r:id="rId18"/>
    <p:sldId id="279" r:id="rId19"/>
    <p:sldId id="280" r:id="rId20"/>
    <p:sldId id="281" r:id="rId21"/>
    <p:sldId id="262" r:id="rId22"/>
    <p:sldId id="263" r:id="rId23"/>
    <p:sldId id="282" r:id="rId24"/>
    <p:sldId id="26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305" y="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773D2-192B-D5C9-E675-AEE0EA3BA7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7E473D5-C7D0-6968-D95D-0E06B5352B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D81D4B-E25F-2465-6F97-9C4F90316572}"/>
              </a:ext>
            </a:extLst>
          </p:cNvPr>
          <p:cNvSpPr>
            <a:spLocks noGrp="1"/>
          </p:cNvSpPr>
          <p:nvPr>
            <p:ph type="dt" sz="half" idx="10"/>
          </p:nvPr>
        </p:nvSpPr>
        <p:spPr/>
        <p:txBody>
          <a:bodyPr/>
          <a:lstStyle/>
          <a:p>
            <a:fld id="{0D8FE8D3-6C59-4636-B7A2-4E92440CF818}" type="datetimeFigureOut">
              <a:rPr lang="en-IN" smtClean="0"/>
              <a:t>28-02-2023</a:t>
            </a:fld>
            <a:endParaRPr lang="en-IN"/>
          </a:p>
        </p:txBody>
      </p:sp>
      <p:sp>
        <p:nvSpPr>
          <p:cNvPr id="5" name="Footer Placeholder 4">
            <a:extLst>
              <a:ext uri="{FF2B5EF4-FFF2-40B4-BE49-F238E27FC236}">
                <a16:creationId xmlns:a16="http://schemas.microsoft.com/office/drawing/2014/main" id="{692A25F0-641A-6FA4-D1B2-42BD7BB085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3CED2F-A045-9968-624C-6F1514435877}"/>
              </a:ext>
            </a:extLst>
          </p:cNvPr>
          <p:cNvSpPr>
            <a:spLocks noGrp="1"/>
          </p:cNvSpPr>
          <p:nvPr>
            <p:ph type="sldNum" sz="quarter" idx="12"/>
          </p:nvPr>
        </p:nvSpPr>
        <p:spPr/>
        <p:txBody>
          <a:bodyPr/>
          <a:lstStyle/>
          <a:p>
            <a:fld id="{B93453D6-A63E-4671-B761-DC712D92EA30}" type="slidenum">
              <a:rPr lang="en-IN" smtClean="0"/>
              <a:t>‹#›</a:t>
            </a:fld>
            <a:endParaRPr lang="en-IN"/>
          </a:p>
        </p:txBody>
      </p:sp>
    </p:spTree>
    <p:extLst>
      <p:ext uri="{BB962C8B-B14F-4D97-AF65-F5344CB8AC3E}">
        <p14:creationId xmlns:p14="http://schemas.microsoft.com/office/powerpoint/2010/main" val="347136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5E498-A248-78D9-7A6F-D3ADD6BAB34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FE92B1-3233-E21D-A1B6-F49217F81B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0787E6-F23E-42DE-204B-62AF9910030C}"/>
              </a:ext>
            </a:extLst>
          </p:cNvPr>
          <p:cNvSpPr>
            <a:spLocks noGrp="1"/>
          </p:cNvSpPr>
          <p:nvPr>
            <p:ph type="dt" sz="half" idx="10"/>
          </p:nvPr>
        </p:nvSpPr>
        <p:spPr/>
        <p:txBody>
          <a:bodyPr/>
          <a:lstStyle/>
          <a:p>
            <a:fld id="{0D8FE8D3-6C59-4636-B7A2-4E92440CF818}" type="datetimeFigureOut">
              <a:rPr lang="en-IN" smtClean="0"/>
              <a:t>28-02-2023</a:t>
            </a:fld>
            <a:endParaRPr lang="en-IN"/>
          </a:p>
        </p:txBody>
      </p:sp>
      <p:sp>
        <p:nvSpPr>
          <p:cNvPr id="5" name="Footer Placeholder 4">
            <a:extLst>
              <a:ext uri="{FF2B5EF4-FFF2-40B4-BE49-F238E27FC236}">
                <a16:creationId xmlns:a16="http://schemas.microsoft.com/office/drawing/2014/main" id="{939F13DF-AD62-7EB1-4844-571EA4946E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B263A1-AF90-AA4C-79B5-969740D3BD60}"/>
              </a:ext>
            </a:extLst>
          </p:cNvPr>
          <p:cNvSpPr>
            <a:spLocks noGrp="1"/>
          </p:cNvSpPr>
          <p:nvPr>
            <p:ph type="sldNum" sz="quarter" idx="12"/>
          </p:nvPr>
        </p:nvSpPr>
        <p:spPr/>
        <p:txBody>
          <a:bodyPr/>
          <a:lstStyle/>
          <a:p>
            <a:fld id="{B93453D6-A63E-4671-B761-DC712D92EA30}" type="slidenum">
              <a:rPr lang="en-IN" smtClean="0"/>
              <a:t>‹#›</a:t>
            </a:fld>
            <a:endParaRPr lang="en-IN"/>
          </a:p>
        </p:txBody>
      </p:sp>
    </p:spTree>
    <p:extLst>
      <p:ext uri="{BB962C8B-B14F-4D97-AF65-F5344CB8AC3E}">
        <p14:creationId xmlns:p14="http://schemas.microsoft.com/office/powerpoint/2010/main" val="29853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8D4C8-C5F5-60F5-9ACC-2239C8A3F6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B299901-8AFC-5A06-F1E0-2F70BC9355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6CD026-9ED6-05A0-03BE-60230BA28ABE}"/>
              </a:ext>
            </a:extLst>
          </p:cNvPr>
          <p:cNvSpPr>
            <a:spLocks noGrp="1"/>
          </p:cNvSpPr>
          <p:nvPr>
            <p:ph type="dt" sz="half" idx="10"/>
          </p:nvPr>
        </p:nvSpPr>
        <p:spPr/>
        <p:txBody>
          <a:bodyPr/>
          <a:lstStyle/>
          <a:p>
            <a:fld id="{0D8FE8D3-6C59-4636-B7A2-4E92440CF818}" type="datetimeFigureOut">
              <a:rPr lang="en-IN" smtClean="0"/>
              <a:t>28-02-2023</a:t>
            </a:fld>
            <a:endParaRPr lang="en-IN"/>
          </a:p>
        </p:txBody>
      </p:sp>
      <p:sp>
        <p:nvSpPr>
          <p:cNvPr id="5" name="Footer Placeholder 4">
            <a:extLst>
              <a:ext uri="{FF2B5EF4-FFF2-40B4-BE49-F238E27FC236}">
                <a16:creationId xmlns:a16="http://schemas.microsoft.com/office/drawing/2014/main" id="{C7C54C63-57A8-77C1-5705-2EADC1B9C1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29FE2A-C5EE-5604-4DB6-0FD6FFFEBA62}"/>
              </a:ext>
            </a:extLst>
          </p:cNvPr>
          <p:cNvSpPr>
            <a:spLocks noGrp="1"/>
          </p:cNvSpPr>
          <p:nvPr>
            <p:ph type="sldNum" sz="quarter" idx="12"/>
          </p:nvPr>
        </p:nvSpPr>
        <p:spPr/>
        <p:txBody>
          <a:bodyPr/>
          <a:lstStyle/>
          <a:p>
            <a:fld id="{B93453D6-A63E-4671-B761-DC712D92EA30}" type="slidenum">
              <a:rPr lang="en-IN" smtClean="0"/>
              <a:t>‹#›</a:t>
            </a:fld>
            <a:endParaRPr lang="en-IN"/>
          </a:p>
        </p:txBody>
      </p:sp>
    </p:spTree>
    <p:extLst>
      <p:ext uri="{BB962C8B-B14F-4D97-AF65-F5344CB8AC3E}">
        <p14:creationId xmlns:p14="http://schemas.microsoft.com/office/powerpoint/2010/main" val="3762050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5098B-0000-981D-4059-0871B676E8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AD0368-F88C-9790-A216-7AEA9603B3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4223B1-BD44-A113-8B6A-514555BB02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289FDC3-2499-816B-4036-8005E249DFB8}"/>
              </a:ext>
            </a:extLst>
          </p:cNvPr>
          <p:cNvSpPr>
            <a:spLocks noGrp="1"/>
          </p:cNvSpPr>
          <p:nvPr>
            <p:ph type="dt" sz="half" idx="10"/>
          </p:nvPr>
        </p:nvSpPr>
        <p:spPr/>
        <p:txBody>
          <a:bodyPr/>
          <a:lstStyle/>
          <a:p>
            <a:fld id="{0D8FE8D3-6C59-4636-B7A2-4E92440CF818}" type="datetimeFigureOut">
              <a:rPr lang="en-IN" smtClean="0"/>
              <a:t>28-02-2023</a:t>
            </a:fld>
            <a:endParaRPr lang="en-IN"/>
          </a:p>
        </p:txBody>
      </p:sp>
      <p:sp>
        <p:nvSpPr>
          <p:cNvPr id="6" name="Footer Placeholder 5">
            <a:extLst>
              <a:ext uri="{FF2B5EF4-FFF2-40B4-BE49-F238E27FC236}">
                <a16:creationId xmlns:a16="http://schemas.microsoft.com/office/drawing/2014/main" id="{69A4E061-B667-0FBA-188F-F701F0F4F4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3E4EC6-1725-47E3-9500-64B0F6E738C7}"/>
              </a:ext>
            </a:extLst>
          </p:cNvPr>
          <p:cNvSpPr>
            <a:spLocks noGrp="1"/>
          </p:cNvSpPr>
          <p:nvPr>
            <p:ph type="sldNum" sz="quarter" idx="12"/>
          </p:nvPr>
        </p:nvSpPr>
        <p:spPr/>
        <p:txBody>
          <a:bodyPr/>
          <a:lstStyle/>
          <a:p>
            <a:fld id="{B93453D6-A63E-4671-B761-DC712D92EA30}" type="slidenum">
              <a:rPr lang="en-IN" smtClean="0"/>
              <a:t>‹#›</a:t>
            </a:fld>
            <a:endParaRPr lang="en-IN"/>
          </a:p>
        </p:txBody>
      </p:sp>
    </p:spTree>
    <p:extLst>
      <p:ext uri="{BB962C8B-B14F-4D97-AF65-F5344CB8AC3E}">
        <p14:creationId xmlns:p14="http://schemas.microsoft.com/office/powerpoint/2010/main" val="132790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4759E-79CC-1701-69E0-6853ED0D9AF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729EDC-3A7E-B5FF-CF33-16EE513B50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C7C591-1781-E10C-5B86-892D6E23C5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AD5B2A-78D1-CAE0-84CE-8031848E29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FD9B06-58F9-9BF2-676F-686602BA45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D43F862-9DC0-4B57-4AA0-824054C9B5DB}"/>
              </a:ext>
            </a:extLst>
          </p:cNvPr>
          <p:cNvSpPr>
            <a:spLocks noGrp="1"/>
          </p:cNvSpPr>
          <p:nvPr>
            <p:ph type="dt" sz="half" idx="10"/>
          </p:nvPr>
        </p:nvSpPr>
        <p:spPr/>
        <p:txBody>
          <a:bodyPr/>
          <a:lstStyle/>
          <a:p>
            <a:fld id="{0D8FE8D3-6C59-4636-B7A2-4E92440CF818}" type="datetimeFigureOut">
              <a:rPr lang="en-IN" smtClean="0"/>
              <a:t>28-02-2023</a:t>
            </a:fld>
            <a:endParaRPr lang="en-IN"/>
          </a:p>
        </p:txBody>
      </p:sp>
      <p:sp>
        <p:nvSpPr>
          <p:cNvPr id="8" name="Footer Placeholder 7">
            <a:extLst>
              <a:ext uri="{FF2B5EF4-FFF2-40B4-BE49-F238E27FC236}">
                <a16:creationId xmlns:a16="http://schemas.microsoft.com/office/drawing/2014/main" id="{11032690-66BC-8887-DA66-BC69C865CE4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43E6758-7FE4-5C65-5C64-593D7D15F69F}"/>
              </a:ext>
            </a:extLst>
          </p:cNvPr>
          <p:cNvSpPr>
            <a:spLocks noGrp="1"/>
          </p:cNvSpPr>
          <p:nvPr>
            <p:ph type="sldNum" sz="quarter" idx="12"/>
          </p:nvPr>
        </p:nvSpPr>
        <p:spPr/>
        <p:txBody>
          <a:bodyPr/>
          <a:lstStyle/>
          <a:p>
            <a:fld id="{B93453D6-A63E-4671-B761-DC712D92EA30}" type="slidenum">
              <a:rPr lang="en-IN" smtClean="0"/>
              <a:t>‹#›</a:t>
            </a:fld>
            <a:endParaRPr lang="en-IN"/>
          </a:p>
        </p:txBody>
      </p:sp>
    </p:spTree>
    <p:extLst>
      <p:ext uri="{BB962C8B-B14F-4D97-AF65-F5344CB8AC3E}">
        <p14:creationId xmlns:p14="http://schemas.microsoft.com/office/powerpoint/2010/main" val="565835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10C1E-F421-0F02-8385-2094B8BDCD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6DA8A83-65C9-0710-3152-61C66739B5C8}"/>
              </a:ext>
            </a:extLst>
          </p:cNvPr>
          <p:cNvSpPr>
            <a:spLocks noGrp="1"/>
          </p:cNvSpPr>
          <p:nvPr>
            <p:ph type="dt" sz="half" idx="10"/>
          </p:nvPr>
        </p:nvSpPr>
        <p:spPr/>
        <p:txBody>
          <a:bodyPr/>
          <a:lstStyle/>
          <a:p>
            <a:fld id="{0D8FE8D3-6C59-4636-B7A2-4E92440CF818}" type="datetimeFigureOut">
              <a:rPr lang="en-IN" smtClean="0"/>
              <a:t>28-02-2023</a:t>
            </a:fld>
            <a:endParaRPr lang="en-IN"/>
          </a:p>
        </p:txBody>
      </p:sp>
      <p:sp>
        <p:nvSpPr>
          <p:cNvPr id="4" name="Footer Placeholder 3">
            <a:extLst>
              <a:ext uri="{FF2B5EF4-FFF2-40B4-BE49-F238E27FC236}">
                <a16:creationId xmlns:a16="http://schemas.microsoft.com/office/drawing/2014/main" id="{3AE31BCD-3928-C7DD-A4F1-5E11EF3E8DE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2600AD0-C666-8065-135F-49233981638F}"/>
              </a:ext>
            </a:extLst>
          </p:cNvPr>
          <p:cNvSpPr>
            <a:spLocks noGrp="1"/>
          </p:cNvSpPr>
          <p:nvPr>
            <p:ph type="sldNum" sz="quarter" idx="12"/>
          </p:nvPr>
        </p:nvSpPr>
        <p:spPr/>
        <p:txBody>
          <a:bodyPr/>
          <a:lstStyle/>
          <a:p>
            <a:fld id="{B93453D6-A63E-4671-B761-DC712D92EA30}" type="slidenum">
              <a:rPr lang="en-IN" smtClean="0"/>
              <a:t>‹#›</a:t>
            </a:fld>
            <a:endParaRPr lang="en-IN"/>
          </a:p>
        </p:txBody>
      </p:sp>
    </p:spTree>
    <p:extLst>
      <p:ext uri="{BB962C8B-B14F-4D97-AF65-F5344CB8AC3E}">
        <p14:creationId xmlns:p14="http://schemas.microsoft.com/office/powerpoint/2010/main" val="2240539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52525C-94B1-2571-BC75-C44E0E1AD147}"/>
              </a:ext>
            </a:extLst>
          </p:cNvPr>
          <p:cNvSpPr>
            <a:spLocks noGrp="1"/>
          </p:cNvSpPr>
          <p:nvPr>
            <p:ph type="dt" sz="half" idx="10"/>
          </p:nvPr>
        </p:nvSpPr>
        <p:spPr/>
        <p:txBody>
          <a:bodyPr/>
          <a:lstStyle/>
          <a:p>
            <a:fld id="{0D8FE8D3-6C59-4636-B7A2-4E92440CF818}" type="datetimeFigureOut">
              <a:rPr lang="en-IN" smtClean="0"/>
              <a:t>28-02-2023</a:t>
            </a:fld>
            <a:endParaRPr lang="en-IN"/>
          </a:p>
        </p:txBody>
      </p:sp>
      <p:sp>
        <p:nvSpPr>
          <p:cNvPr id="3" name="Footer Placeholder 2">
            <a:extLst>
              <a:ext uri="{FF2B5EF4-FFF2-40B4-BE49-F238E27FC236}">
                <a16:creationId xmlns:a16="http://schemas.microsoft.com/office/drawing/2014/main" id="{804CF0C9-B02E-E996-1071-6E76CBB87CD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D6710BB-08B3-3308-FFED-A45D9B6D8A28}"/>
              </a:ext>
            </a:extLst>
          </p:cNvPr>
          <p:cNvSpPr>
            <a:spLocks noGrp="1"/>
          </p:cNvSpPr>
          <p:nvPr>
            <p:ph type="sldNum" sz="quarter" idx="12"/>
          </p:nvPr>
        </p:nvSpPr>
        <p:spPr/>
        <p:txBody>
          <a:bodyPr/>
          <a:lstStyle/>
          <a:p>
            <a:fld id="{B93453D6-A63E-4671-B761-DC712D92EA30}" type="slidenum">
              <a:rPr lang="en-IN" smtClean="0"/>
              <a:t>‹#›</a:t>
            </a:fld>
            <a:endParaRPr lang="en-IN"/>
          </a:p>
        </p:txBody>
      </p:sp>
    </p:spTree>
    <p:extLst>
      <p:ext uri="{BB962C8B-B14F-4D97-AF65-F5344CB8AC3E}">
        <p14:creationId xmlns:p14="http://schemas.microsoft.com/office/powerpoint/2010/main" val="1302186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368CB-2970-3630-0DDE-081EA956AF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F748147-B521-4E67-B82E-CD1222BA66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EE51933-AB8E-C944-7586-9F25769068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AE35B3-9336-51C3-4A74-0DE673F02323}"/>
              </a:ext>
            </a:extLst>
          </p:cNvPr>
          <p:cNvSpPr>
            <a:spLocks noGrp="1"/>
          </p:cNvSpPr>
          <p:nvPr>
            <p:ph type="dt" sz="half" idx="10"/>
          </p:nvPr>
        </p:nvSpPr>
        <p:spPr/>
        <p:txBody>
          <a:bodyPr/>
          <a:lstStyle/>
          <a:p>
            <a:fld id="{0D8FE8D3-6C59-4636-B7A2-4E92440CF818}" type="datetimeFigureOut">
              <a:rPr lang="en-IN" smtClean="0"/>
              <a:t>28-02-2023</a:t>
            </a:fld>
            <a:endParaRPr lang="en-IN"/>
          </a:p>
        </p:txBody>
      </p:sp>
      <p:sp>
        <p:nvSpPr>
          <p:cNvPr id="6" name="Footer Placeholder 5">
            <a:extLst>
              <a:ext uri="{FF2B5EF4-FFF2-40B4-BE49-F238E27FC236}">
                <a16:creationId xmlns:a16="http://schemas.microsoft.com/office/drawing/2014/main" id="{FE1E5624-68FF-9640-D3F4-5DB43B383D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04AC0F-E42A-E090-2A7F-C1580D7A023E}"/>
              </a:ext>
            </a:extLst>
          </p:cNvPr>
          <p:cNvSpPr>
            <a:spLocks noGrp="1"/>
          </p:cNvSpPr>
          <p:nvPr>
            <p:ph type="sldNum" sz="quarter" idx="12"/>
          </p:nvPr>
        </p:nvSpPr>
        <p:spPr/>
        <p:txBody>
          <a:bodyPr/>
          <a:lstStyle/>
          <a:p>
            <a:fld id="{B93453D6-A63E-4671-B761-DC712D92EA30}" type="slidenum">
              <a:rPr lang="en-IN" smtClean="0"/>
              <a:t>‹#›</a:t>
            </a:fld>
            <a:endParaRPr lang="en-IN"/>
          </a:p>
        </p:txBody>
      </p:sp>
    </p:spTree>
    <p:extLst>
      <p:ext uri="{BB962C8B-B14F-4D97-AF65-F5344CB8AC3E}">
        <p14:creationId xmlns:p14="http://schemas.microsoft.com/office/powerpoint/2010/main" val="362694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20D54-EAAE-F879-BF33-203AE3226D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25BCE06-D5EE-A1D9-BCBB-BAB288331C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2FBD527-CF49-6A6E-7E0C-CE6F1A4A86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B1CF82-9D9D-8074-B0C8-2CBFC760B652}"/>
              </a:ext>
            </a:extLst>
          </p:cNvPr>
          <p:cNvSpPr>
            <a:spLocks noGrp="1"/>
          </p:cNvSpPr>
          <p:nvPr>
            <p:ph type="dt" sz="half" idx="10"/>
          </p:nvPr>
        </p:nvSpPr>
        <p:spPr/>
        <p:txBody>
          <a:bodyPr/>
          <a:lstStyle/>
          <a:p>
            <a:fld id="{0D8FE8D3-6C59-4636-B7A2-4E92440CF818}" type="datetimeFigureOut">
              <a:rPr lang="en-IN" smtClean="0"/>
              <a:t>28-02-2023</a:t>
            </a:fld>
            <a:endParaRPr lang="en-IN"/>
          </a:p>
        </p:txBody>
      </p:sp>
      <p:sp>
        <p:nvSpPr>
          <p:cNvPr id="6" name="Footer Placeholder 5">
            <a:extLst>
              <a:ext uri="{FF2B5EF4-FFF2-40B4-BE49-F238E27FC236}">
                <a16:creationId xmlns:a16="http://schemas.microsoft.com/office/drawing/2014/main" id="{83ACC1E0-8CAE-CC44-FD0B-1380726370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596C69-3370-5683-D77B-DC7B7019DDD2}"/>
              </a:ext>
            </a:extLst>
          </p:cNvPr>
          <p:cNvSpPr>
            <a:spLocks noGrp="1"/>
          </p:cNvSpPr>
          <p:nvPr>
            <p:ph type="sldNum" sz="quarter" idx="12"/>
          </p:nvPr>
        </p:nvSpPr>
        <p:spPr/>
        <p:txBody>
          <a:bodyPr/>
          <a:lstStyle/>
          <a:p>
            <a:fld id="{B93453D6-A63E-4671-B761-DC712D92EA30}" type="slidenum">
              <a:rPr lang="en-IN" smtClean="0"/>
              <a:t>‹#›</a:t>
            </a:fld>
            <a:endParaRPr lang="en-IN"/>
          </a:p>
        </p:txBody>
      </p:sp>
    </p:spTree>
    <p:extLst>
      <p:ext uri="{BB962C8B-B14F-4D97-AF65-F5344CB8AC3E}">
        <p14:creationId xmlns:p14="http://schemas.microsoft.com/office/powerpoint/2010/main" val="2055404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EE1E2-7924-E34B-95C3-10490EE5169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4B8242-7DD6-D6CC-52B5-7F3DA223CD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9C908D-3E93-7AFB-E4F3-4120427F747D}"/>
              </a:ext>
            </a:extLst>
          </p:cNvPr>
          <p:cNvSpPr>
            <a:spLocks noGrp="1"/>
          </p:cNvSpPr>
          <p:nvPr>
            <p:ph type="dt" sz="half" idx="10"/>
          </p:nvPr>
        </p:nvSpPr>
        <p:spPr/>
        <p:txBody>
          <a:bodyPr/>
          <a:lstStyle/>
          <a:p>
            <a:fld id="{0D8FE8D3-6C59-4636-B7A2-4E92440CF818}" type="datetimeFigureOut">
              <a:rPr lang="en-IN" smtClean="0"/>
              <a:t>28-02-2023</a:t>
            </a:fld>
            <a:endParaRPr lang="en-IN"/>
          </a:p>
        </p:txBody>
      </p:sp>
      <p:sp>
        <p:nvSpPr>
          <p:cNvPr id="5" name="Footer Placeholder 4">
            <a:extLst>
              <a:ext uri="{FF2B5EF4-FFF2-40B4-BE49-F238E27FC236}">
                <a16:creationId xmlns:a16="http://schemas.microsoft.com/office/drawing/2014/main" id="{3CA7EB18-D170-9824-D015-F6F727B663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B5146E-3CC6-A03D-24D0-F968416CE6CC}"/>
              </a:ext>
            </a:extLst>
          </p:cNvPr>
          <p:cNvSpPr>
            <a:spLocks noGrp="1"/>
          </p:cNvSpPr>
          <p:nvPr>
            <p:ph type="sldNum" sz="quarter" idx="12"/>
          </p:nvPr>
        </p:nvSpPr>
        <p:spPr/>
        <p:txBody>
          <a:bodyPr/>
          <a:lstStyle/>
          <a:p>
            <a:fld id="{B93453D6-A63E-4671-B761-DC712D92EA30}" type="slidenum">
              <a:rPr lang="en-IN" smtClean="0"/>
              <a:t>‹#›</a:t>
            </a:fld>
            <a:endParaRPr lang="en-IN"/>
          </a:p>
        </p:txBody>
      </p:sp>
    </p:spTree>
    <p:extLst>
      <p:ext uri="{BB962C8B-B14F-4D97-AF65-F5344CB8AC3E}">
        <p14:creationId xmlns:p14="http://schemas.microsoft.com/office/powerpoint/2010/main" val="3358569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647218-8D24-2BF3-A2F8-3A6B280868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967EA5-73A6-0EE0-3118-0E66FD5A02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8B2F1D-5089-7DB7-6F3A-0CE8FF182636}"/>
              </a:ext>
            </a:extLst>
          </p:cNvPr>
          <p:cNvSpPr>
            <a:spLocks noGrp="1"/>
          </p:cNvSpPr>
          <p:nvPr>
            <p:ph type="dt" sz="half" idx="10"/>
          </p:nvPr>
        </p:nvSpPr>
        <p:spPr/>
        <p:txBody>
          <a:bodyPr/>
          <a:lstStyle/>
          <a:p>
            <a:fld id="{0D8FE8D3-6C59-4636-B7A2-4E92440CF818}" type="datetimeFigureOut">
              <a:rPr lang="en-IN" smtClean="0"/>
              <a:t>28-02-2023</a:t>
            </a:fld>
            <a:endParaRPr lang="en-IN"/>
          </a:p>
        </p:txBody>
      </p:sp>
      <p:sp>
        <p:nvSpPr>
          <p:cNvPr id="5" name="Footer Placeholder 4">
            <a:extLst>
              <a:ext uri="{FF2B5EF4-FFF2-40B4-BE49-F238E27FC236}">
                <a16:creationId xmlns:a16="http://schemas.microsoft.com/office/drawing/2014/main" id="{53B85AA0-A654-A83A-6EAE-6897BFBB53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94BDE7-6FA1-5858-ADB0-1D0C98297F06}"/>
              </a:ext>
            </a:extLst>
          </p:cNvPr>
          <p:cNvSpPr>
            <a:spLocks noGrp="1"/>
          </p:cNvSpPr>
          <p:nvPr>
            <p:ph type="sldNum" sz="quarter" idx="12"/>
          </p:nvPr>
        </p:nvSpPr>
        <p:spPr/>
        <p:txBody>
          <a:bodyPr/>
          <a:lstStyle/>
          <a:p>
            <a:fld id="{B93453D6-A63E-4671-B761-DC712D92EA30}" type="slidenum">
              <a:rPr lang="en-IN" smtClean="0"/>
              <a:t>‹#›</a:t>
            </a:fld>
            <a:endParaRPr lang="en-IN"/>
          </a:p>
        </p:txBody>
      </p:sp>
    </p:spTree>
    <p:extLst>
      <p:ext uri="{BB962C8B-B14F-4D97-AF65-F5344CB8AC3E}">
        <p14:creationId xmlns:p14="http://schemas.microsoft.com/office/powerpoint/2010/main" val="2482533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FEB2AD-C18A-C795-C799-34BB737198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23711CD-F3F5-D79A-C3DD-3A53394387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4B2CC0-339C-32A9-8ADA-680DCE4753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8FE8D3-6C59-4636-B7A2-4E92440CF818}" type="datetimeFigureOut">
              <a:rPr lang="en-IN" smtClean="0"/>
              <a:t>28-02-2023</a:t>
            </a:fld>
            <a:endParaRPr lang="en-IN"/>
          </a:p>
        </p:txBody>
      </p:sp>
      <p:sp>
        <p:nvSpPr>
          <p:cNvPr id="5" name="Footer Placeholder 4">
            <a:extLst>
              <a:ext uri="{FF2B5EF4-FFF2-40B4-BE49-F238E27FC236}">
                <a16:creationId xmlns:a16="http://schemas.microsoft.com/office/drawing/2014/main" id="{FE29D8F7-F391-029C-039E-AA6F07E23F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9F315AE-4DB4-551A-A99F-642E31A492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3453D6-A63E-4671-B761-DC712D92EA30}" type="slidenum">
              <a:rPr lang="en-IN" smtClean="0"/>
              <a:t>‹#›</a:t>
            </a:fld>
            <a:endParaRPr lang="en-IN"/>
          </a:p>
        </p:txBody>
      </p:sp>
    </p:spTree>
    <p:extLst>
      <p:ext uri="{BB962C8B-B14F-4D97-AF65-F5344CB8AC3E}">
        <p14:creationId xmlns:p14="http://schemas.microsoft.com/office/powerpoint/2010/main" val="4119597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ibm.com/in-en/topics/data-model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29B7-A19D-8A0B-E3CE-35739271FD31}"/>
              </a:ext>
            </a:extLst>
          </p:cNvPr>
          <p:cNvSpPr>
            <a:spLocks noGrp="1"/>
          </p:cNvSpPr>
          <p:nvPr>
            <p:ph type="ctrTitle"/>
          </p:nvPr>
        </p:nvSpPr>
        <p:spPr/>
        <p:txBody>
          <a:bodyPr/>
          <a:lstStyle/>
          <a:p>
            <a:r>
              <a:rPr lang="en-GB" dirty="0"/>
              <a:t>UNIT-2</a:t>
            </a:r>
            <a:endParaRPr lang="en-IN" dirty="0"/>
          </a:p>
        </p:txBody>
      </p:sp>
      <p:sp>
        <p:nvSpPr>
          <p:cNvPr id="3" name="Subtitle 2">
            <a:extLst>
              <a:ext uri="{FF2B5EF4-FFF2-40B4-BE49-F238E27FC236}">
                <a16:creationId xmlns:a16="http://schemas.microsoft.com/office/drawing/2014/main" id="{C5CFC941-3CFB-F0A8-81AE-49A984820F31}"/>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139929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C8FDF-384E-C351-30E4-E36E3B3D1E4D}"/>
              </a:ext>
            </a:extLst>
          </p:cNvPr>
          <p:cNvSpPr>
            <a:spLocks noGrp="1"/>
          </p:cNvSpPr>
          <p:nvPr>
            <p:ph type="title"/>
          </p:nvPr>
        </p:nvSpPr>
        <p:spPr/>
        <p:txBody>
          <a:bodyPr/>
          <a:lstStyle/>
          <a:p>
            <a:r>
              <a:rPr lang="en-GB" dirty="0"/>
              <a:t>Relational Model</a:t>
            </a:r>
            <a:endParaRPr lang="en-IN" dirty="0"/>
          </a:p>
        </p:txBody>
      </p:sp>
      <p:sp>
        <p:nvSpPr>
          <p:cNvPr id="3" name="Content Placeholder 2">
            <a:extLst>
              <a:ext uri="{FF2B5EF4-FFF2-40B4-BE49-F238E27FC236}">
                <a16:creationId xmlns:a16="http://schemas.microsoft.com/office/drawing/2014/main" id="{19B139FD-2D5C-FA25-9626-D3D6408646CD}"/>
              </a:ext>
            </a:extLst>
          </p:cNvPr>
          <p:cNvSpPr>
            <a:spLocks noGrp="1"/>
          </p:cNvSpPr>
          <p:nvPr>
            <p:ph idx="1"/>
          </p:nvPr>
        </p:nvSpPr>
        <p:spPr/>
        <p:txBody>
          <a:bodyPr/>
          <a:lstStyle/>
          <a:p>
            <a:pPr algn="just"/>
            <a:r>
              <a:rPr lang="en-GB" b="0" i="0" dirty="0">
                <a:solidFill>
                  <a:srgbClr val="333333"/>
                </a:solidFill>
                <a:effectLst/>
                <a:latin typeface="inter-regular"/>
              </a:rPr>
              <a:t>Relational model can represent as a table with columns and rows. Each row is known as a tuple. Each table of the column has a name or attribute.</a:t>
            </a:r>
          </a:p>
          <a:p>
            <a:pPr algn="just"/>
            <a:r>
              <a:rPr lang="en-GB" b="1" i="0" dirty="0">
                <a:solidFill>
                  <a:srgbClr val="333333"/>
                </a:solidFill>
                <a:effectLst/>
                <a:latin typeface="inter-bold"/>
              </a:rPr>
              <a:t>Domain:</a:t>
            </a:r>
            <a:r>
              <a:rPr lang="en-GB" b="0" i="0" dirty="0">
                <a:solidFill>
                  <a:srgbClr val="333333"/>
                </a:solidFill>
                <a:effectLst/>
                <a:latin typeface="inter-regular"/>
              </a:rPr>
              <a:t> It contains a set of atomic values that an attribute can take.</a:t>
            </a:r>
          </a:p>
          <a:p>
            <a:pPr algn="just"/>
            <a:r>
              <a:rPr lang="en-GB" b="1" i="0" dirty="0">
                <a:solidFill>
                  <a:srgbClr val="333333"/>
                </a:solidFill>
                <a:effectLst/>
                <a:latin typeface="inter-bold"/>
              </a:rPr>
              <a:t>Attribute:</a:t>
            </a:r>
            <a:r>
              <a:rPr lang="en-GB" b="0" i="0" dirty="0">
                <a:solidFill>
                  <a:srgbClr val="333333"/>
                </a:solidFill>
                <a:effectLst/>
                <a:latin typeface="inter-regular"/>
              </a:rPr>
              <a:t> It contains the name of a column in a particular table. Each attribute Ai must have a domain, </a:t>
            </a:r>
            <a:r>
              <a:rPr lang="en-GB" b="0" i="0" dirty="0" err="1">
                <a:solidFill>
                  <a:srgbClr val="333333"/>
                </a:solidFill>
                <a:effectLst/>
                <a:latin typeface="inter-regular"/>
              </a:rPr>
              <a:t>dom</a:t>
            </a:r>
            <a:r>
              <a:rPr lang="en-GB" b="0" i="0" dirty="0">
                <a:solidFill>
                  <a:srgbClr val="333333"/>
                </a:solidFill>
                <a:effectLst/>
                <a:latin typeface="inter-regular"/>
              </a:rPr>
              <a:t>(Ai)</a:t>
            </a:r>
          </a:p>
          <a:p>
            <a:pPr algn="just"/>
            <a:r>
              <a:rPr lang="en-GB" b="1" i="0" dirty="0">
                <a:solidFill>
                  <a:srgbClr val="333333"/>
                </a:solidFill>
                <a:effectLst/>
                <a:latin typeface="inter-bold"/>
              </a:rPr>
              <a:t>Relational instance:</a:t>
            </a:r>
            <a:r>
              <a:rPr lang="en-GB" b="0" i="0" dirty="0">
                <a:solidFill>
                  <a:srgbClr val="333333"/>
                </a:solidFill>
                <a:effectLst/>
                <a:latin typeface="inter-regular"/>
              </a:rPr>
              <a:t> In the relational database system, the relational instance is represented by a finite set of tuples. Relation instances do not have duplicate tuples.</a:t>
            </a:r>
          </a:p>
          <a:p>
            <a:endParaRPr lang="en-IN" dirty="0"/>
          </a:p>
        </p:txBody>
      </p:sp>
    </p:spTree>
    <p:extLst>
      <p:ext uri="{BB962C8B-B14F-4D97-AF65-F5344CB8AC3E}">
        <p14:creationId xmlns:p14="http://schemas.microsoft.com/office/powerpoint/2010/main" val="1525540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849AE-6BB7-8F9D-CBCC-DE51F75964F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6985737-C4C7-EAE2-5373-AED3D7149D06}"/>
              </a:ext>
            </a:extLst>
          </p:cNvPr>
          <p:cNvSpPr>
            <a:spLocks noGrp="1"/>
          </p:cNvSpPr>
          <p:nvPr>
            <p:ph idx="1"/>
          </p:nvPr>
        </p:nvSpPr>
        <p:spPr/>
        <p:txBody>
          <a:bodyPr/>
          <a:lstStyle/>
          <a:p>
            <a:pPr algn="just"/>
            <a:r>
              <a:rPr lang="en-GB" b="1" i="0" dirty="0">
                <a:solidFill>
                  <a:srgbClr val="333333"/>
                </a:solidFill>
                <a:effectLst/>
                <a:latin typeface="inter-bold"/>
              </a:rPr>
              <a:t>Relational schema:</a:t>
            </a:r>
            <a:r>
              <a:rPr lang="en-GB" b="0" i="0" dirty="0">
                <a:solidFill>
                  <a:srgbClr val="333333"/>
                </a:solidFill>
                <a:effectLst/>
                <a:latin typeface="inter-regular"/>
              </a:rPr>
              <a:t> A relational schema contains the name of the relation and name of all columns or attributes.</a:t>
            </a:r>
          </a:p>
          <a:p>
            <a:pPr algn="just"/>
            <a:r>
              <a:rPr lang="en-GB" b="1" i="0" dirty="0">
                <a:solidFill>
                  <a:srgbClr val="333333"/>
                </a:solidFill>
                <a:effectLst/>
                <a:latin typeface="inter-bold"/>
              </a:rPr>
              <a:t>Relational key:</a:t>
            </a:r>
            <a:r>
              <a:rPr lang="en-GB" b="0" i="0" dirty="0">
                <a:solidFill>
                  <a:srgbClr val="333333"/>
                </a:solidFill>
                <a:effectLst/>
                <a:latin typeface="inter-regular"/>
              </a:rPr>
              <a:t> In the relational key, each row has one or more attributes. It can identify the row in the relation uniquely.</a:t>
            </a:r>
          </a:p>
          <a:p>
            <a:endParaRPr lang="en-IN" dirty="0"/>
          </a:p>
        </p:txBody>
      </p:sp>
      <p:pic>
        <p:nvPicPr>
          <p:cNvPr id="5" name="Picture 4">
            <a:extLst>
              <a:ext uri="{FF2B5EF4-FFF2-40B4-BE49-F238E27FC236}">
                <a16:creationId xmlns:a16="http://schemas.microsoft.com/office/drawing/2014/main" id="{76E93581-1A27-6996-1878-754533DF7124}"/>
              </a:ext>
            </a:extLst>
          </p:cNvPr>
          <p:cNvPicPr>
            <a:picLocks noChangeAspect="1"/>
          </p:cNvPicPr>
          <p:nvPr/>
        </p:nvPicPr>
        <p:blipFill>
          <a:blip r:embed="rId2"/>
          <a:stretch>
            <a:fillRect/>
          </a:stretch>
        </p:blipFill>
        <p:spPr>
          <a:xfrm>
            <a:off x="1982328" y="3657600"/>
            <a:ext cx="7788932" cy="2654300"/>
          </a:xfrm>
          <a:prstGeom prst="rect">
            <a:avLst/>
          </a:prstGeom>
        </p:spPr>
      </p:pic>
    </p:spTree>
    <p:extLst>
      <p:ext uri="{BB962C8B-B14F-4D97-AF65-F5344CB8AC3E}">
        <p14:creationId xmlns:p14="http://schemas.microsoft.com/office/powerpoint/2010/main" val="338461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677F6-1E08-BC8B-1625-8F316A589E48}"/>
              </a:ext>
            </a:extLst>
          </p:cNvPr>
          <p:cNvSpPr>
            <a:spLocks noGrp="1"/>
          </p:cNvSpPr>
          <p:nvPr>
            <p:ph type="title"/>
          </p:nvPr>
        </p:nvSpPr>
        <p:spPr/>
        <p:txBody>
          <a:bodyPr/>
          <a:lstStyle/>
          <a:p>
            <a:r>
              <a:rPr lang="en-GB" dirty="0"/>
              <a:t>Properties of relation</a:t>
            </a:r>
            <a:endParaRPr lang="en-IN" dirty="0"/>
          </a:p>
        </p:txBody>
      </p:sp>
      <p:sp>
        <p:nvSpPr>
          <p:cNvPr id="3" name="Content Placeholder 2">
            <a:extLst>
              <a:ext uri="{FF2B5EF4-FFF2-40B4-BE49-F238E27FC236}">
                <a16:creationId xmlns:a16="http://schemas.microsoft.com/office/drawing/2014/main" id="{103E3B11-6373-0067-9019-CB72F92AE741}"/>
              </a:ext>
            </a:extLst>
          </p:cNvPr>
          <p:cNvSpPr>
            <a:spLocks noGrp="1"/>
          </p:cNvSpPr>
          <p:nvPr>
            <p:ph idx="1"/>
          </p:nvPr>
        </p:nvSpPr>
        <p:spPr/>
        <p:txBody>
          <a:bodyPr/>
          <a:lstStyle/>
          <a:p>
            <a:pPr algn="just">
              <a:buFont typeface="Arial" panose="020B0604020202020204" pitchFamily="34" charset="0"/>
              <a:buChar char="•"/>
            </a:pPr>
            <a:r>
              <a:rPr lang="en-GB" b="0" i="0" dirty="0">
                <a:solidFill>
                  <a:srgbClr val="000000"/>
                </a:solidFill>
                <a:effectLst/>
                <a:latin typeface="inter-regular"/>
              </a:rPr>
              <a:t>Name of the relation is distinct from all other relations.</a:t>
            </a:r>
          </a:p>
          <a:p>
            <a:pPr algn="just">
              <a:buFont typeface="Arial" panose="020B0604020202020204" pitchFamily="34" charset="0"/>
              <a:buChar char="•"/>
            </a:pPr>
            <a:r>
              <a:rPr lang="en-GB" b="0" i="0" dirty="0">
                <a:solidFill>
                  <a:srgbClr val="000000"/>
                </a:solidFill>
                <a:effectLst/>
                <a:latin typeface="inter-regular"/>
              </a:rPr>
              <a:t>Each relation cell contains exactly one atomic (single) value</a:t>
            </a:r>
          </a:p>
          <a:p>
            <a:pPr algn="just">
              <a:buFont typeface="Arial" panose="020B0604020202020204" pitchFamily="34" charset="0"/>
              <a:buChar char="•"/>
            </a:pPr>
            <a:r>
              <a:rPr lang="en-GB" b="0" i="0" dirty="0">
                <a:solidFill>
                  <a:srgbClr val="000000"/>
                </a:solidFill>
                <a:effectLst/>
                <a:latin typeface="inter-regular"/>
              </a:rPr>
              <a:t>Each attribute contains a distinct name</a:t>
            </a:r>
          </a:p>
          <a:p>
            <a:pPr algn="just">
              <a:buFont typeface="Arial" panose="020B0604020202020204" pitchFamily="34" charset="0"/>
              <a:buChar char="•"/>
            </a:pPr>
            <a:r>
              <a:rPr lang="en-GB" b="0" i="0" dirty="0">
                <a:solidFill>
                  <a:srgbClr val="000000"/>
                </a:solidFill>
                <a:effectLst/>
                <a:latin typeface="inter-regular"/>
              </a:rPr>
              <a:t>Attribute domain has no significance</a:t>
            </a:r>
          </a:p>
          <a:p>
            <a:pPr algn="just">
              <a:buFont typeface="Arial" panose="020B0604020202020204" pitchFamily="34" charset="0"/>
              <a:buChar char="•"/>
            </a:pPr>
            <a:r>
              <a:rPr lang="en-GB" b="0" i="0" dirty="0">
                <a:solidFill>
                  <a:srgbClr val="000000"/>
                </a:solidFill>
                <a:effectLst/>
                <a:latin typeface="inter-regular"/>
              </a:rPr>
              <a:t>tuple has no duplicate value</a:t>
            </a:r>
          </a:p>
          <a:p>
            <a:pPr algn="just">
              <a:buFont typeface="Arial" panose="020B0604020202020204" pitchFamily="34" charset="0"/>
              <a:buChar char="•"/>
            </a:pPr>
            <a:r>
              <a:rPr lang="en-GB" b="0" i="0" dirty="0">
                <a:solidFill>
                  <a:srgbClr val="000000"/>
                </a:solidFill>
                <a:effectLst/>
                <a:latin typeface="inter-regular"/>
              </a:rPr>
              <a:t>Order of tuple can have a different sequence</a:t>
            </a:r>
          </a:p>
          <a:p>
            <a:endParaRPr lang="en-IN" dirty="0"/>
          </a:p>
        </p:txBody>
      </p:sp>
    </p:spTree>
    <p:extLst>
      <p:ext uri="{BB962C8B-B14F-4D97-AF65-F5344CB8AC3E}">
        <p14:creationId xmlns:p14="http://schemas.microsoft.com/office/powerpoint/2010/main" val="3773328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2415-6DC5-2918-36D2-B5FE16E03353}"/>
              </a:ext>
            </a:extLst>
          </p:cNvPr>
          <p:cNvSpPr>
            <a:spLocks noGrp="1"/>
          </p:cNvSpPr>
          <p:nvPr>
            <p:ph type="title"/>
          </p:nvPr>
        </p:nvSpPr>
        <p:spPr/>
        <p:txBody>
          <a:bodyPr/>
          <a:lstStyle/>
          <a:p>
            <a:r>
              <a:rPr lang="en-GB" dirty="0"/>
              <a:t>Database schema</a:t>
            </a:r>
            <a:endParaRPr lang="en-IN" dirty="0"/>
          </a:p>
        </p:txBody>
      </p:sp>
      <p:sp>
        <p:nvSpPr>
          <p:cNvPr id="3" name="Content Placeholder 2">
            <a:extLst>
              <a:ext uri="{FF2B5EF4-FFF2-40B4-BE49-F238E27FC236}">
                <a16:creationId xmlns:a16="http://schemas.microsoft.com/office/drawing/2014/main" id="{5CCC32B2-BB66-A5CD-7DB6-8448D3C73A11}"/>
              </a:ext>
            </a:extLst>
          </p:cNvPr>
          <p:cNvSpPr>
            <a:spLocks noGrp="1"/>
          </p:cNvSpPr>
          <p:nvPr>
            <p:ph idx="1"/>
          </p:nvPr>
        </p:nvSpPr>
        <p:spPr/>
        <p:txBody>
          <a:bodyPr>
            <a:normAutofit lnSpcReduction="10000"/>
          </a:bodyPr>
          <a:lstStyle/>
          <a:p>
            <a:pPr algn="just" fontAlgn="base"/>
            <a:r>
              <a:rPr lang="en-GB" b="0" i="0" dirty="0">
                <a:effectLst/>
                <a:latin typeface="IBM Plex Sans" panose="020B0503050203000203" pitchFamily="34" charset="0"/>
              </a:rPr>
              <a:t>A database schema defines how data is organized within a relational database; this is inclusive of logical constraints such as, table names, fields, data types, and the relationships between these entities. Schemas commonly use visual representations to communicate the architecture of the database, becoming the foundation for an organization’s data management discipline. This process of database schema design is also known as </a:t>
            </a:r>
            <a:r>
              <a:rPr lang="en-GB" b="0" i="0" strike="noStrike" dirty="0">
                <a:effectLst/>
                <a:latin typeface="inherit"/>
                <a:hlinkClick r:id="rId2">
                  <a:extLst>
                    <a:ext uri="{A12FA001-AC4F-418D-AE19-62706E023703}">
                      <ahyp:hlinkClr xmlns:ahyp="http://schemas.microsoft.com/office/drawing/2018/hyperlinkcolor" val="tx"/>
                    </a:ext>
                  </a:extLst>
                </a:hlinkClick>
              </a:rPr>
              <a:t>data </a:t>
            </a:r>
            <a:r>
              <a:rPr lang="en-GB" b="0" i="0" strike="noStrike" dirty="0" err="1">
                <a:effectLst/>
                <a:latin typeface="inherit"/>
                <a:hlinkClick r:id="rId2">
                  <a:extLst>
                    <a:ext uri="{A12FA001-AC4F-418D-AE19-62706E023703}">
                      <ahyp:hlinkClr xmlns:ahyp="http://schemas.microsoft.com/office/drawing/2018/hyperlinkcolor" val="tx"/>
                    </a:ext>
                  </a:extLst>
                </a:hlinkClick>
              </a:rPr>
              <a:t>modeling</a:t>
            </a:r>
            <a:r>
              <a:rPr lang="en-GB" b="0" i="0" dirty="0">
                <a:effectLst/>
                <a:latin typeface="IBM Plex Sans" panose="020B0503050203000203" pitchFamily="34" charset="0"/>
              </a:rPr>
              <a:t>.</a:t>
            </a:r>
          </a:p>
          <a:p>
            <a:pPr algn="just" fontAlgn="base"/>
            <a:r>
              <a:rPr lang="en-GB" b="0" i="0" dirty="0">
                <a:effectLst/>
                <a:latin typeface="IBM Plex Sans" panose="020B0503050203000203" pitchFamily="34" charset="0"/>
              </a:rPr>
              <a:t>These data models serve a variety of roles, such as database users, database administrators, and programmers. For example, it can help database administrators manage normalization processes to avoid data duplication.</a:t>
            </a:r>
          </a:p>
          <a:p>
            <a:pPr algn="just"/>
            <a:endParaRPr lang="en-IN" dirty="0"/>
          </a:p>
        </p:txBody>
      </p:sp>
    </p:spTree>
    <p:extLst>
      <p:ext uri="{BB962C8B-B14F-4D97-AF65-F5344CB8AC3E}">
        <p14:creationId xmlns:p14="http://schemas.microsoft.com/office/powerpoint/2010/main" val="3184241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BF878-9858-8AEF-350F-97DC97B67916}"/>
              </a:ext>
            </a:extLst>
          </p:cNvPr>
          <p:cNvSpPr>
            <a:spLocks noGrp="1"/>
          </p:cNvSpPr>
          <p:nvPr>
            <p:ph type="title"/>
          </p:nvPr>
        </p:nvSpPr>
        <p:spPr/>
        <p:txBody>
          <a:bodyPr/>
          <a:lstStyle/>
          <a:p>
            <a:r>
              <a:rPr lang="en-GB" dirty="0"/>
              <a:t>Types of Database schemas</a:t>
            </a:r>
            <a:endParaRPr lang="en-IN" dirty="0"/>
          </a:p>
        </p:txBody>
      </p:sp>
      <p:sp>
        <p:nvSpPr>
          <p:cNvPr id="3" name="Content Placeholder 2">
            <a:extLst>
              <a:ext uri="{FF2B5EF4-FFF2-40B4-BE49-F238E27FC236}">
                <a16:creationId xmlns:a16="http://schemas.microsoft.com/office/drawing/2014/main" id="{B8D3F0A5-0E5E-6F08-F2AC-26D6C93A5862}"/>
              </a:ext>
            </a:extLst>
          </p:cNvPr>
          <p:cNvSpPr>
            <a:spLocks noGrp="1"/>
          </p:cNvSpPr>
          <p:nvPr>
            <p:ph idx="1"/>
          </p:nvPr>
        </p:nvSpPr>
        <p:spPr/>
        <p:txBody>
          <a:bodyPr>
            <a:normAutofit fontScale="85000" lnSpcReduction="20000"/>
          </a:bodyPr>
          <a:lstStyle/>
          <a:p>
            <a:pPr algn="l" fontAlgn="base"/>
            <a:r>
              <a:rPr lang="en-GB" b="0" i="0" dirty="0">
                <a:solidFill>
                  <a:srgbClr val="161616"/>
                </a:solidFill>
                <a:effectLst/>
                <a:latin typeface="IBM Plex Sans" panose="020B0503050203000203" pitchFamily="34" charset="0"/>
              </a:rPr>
              <a:t>While the term schema is broadly used, it is commonly referring to three different schema types—a conceptual database schema, a logical database schema, and a physical database schema.</a:t>
            </a:r>
          </a:p>
          <a:p>
            <a:pPr algn="l" fontAlgn="base">
              <a:buFont typeface="Arial" panose="020B0604020202020204" pitchFamily="34" charset="0"/>
              <a:buChar char="•"/>
            </a:pPr>
            <a:r>
              <a:rPr lang="en-GB" b="0" i="0" dirty="0">
                <a:solidFill>
                  <a:srgbClr val="161616"/>
                </a:solidFill>
                <a:effectLst/>
                <a:latin typeface="inherit"/>
              </a:rPr>
              <a:t>Conceptual schemas offer a big-picture view of what the system will contain, how it will be organized, and which business rules are involved. Conceptual models are usually created as part of the process of gathering initial project requirements.</a:t>
            </a:r>
          </a:p>
          <a:p>
            <a:pPr algn="l" fontAlgn="base">
              <a:buFont typeface="Arial" panose="020B0604020202020204" pitchFamily="34" charset="0"/>
              <a:buChar char="•"/>
            </a:pPr>
            <a:r>
              <a:rPr lang="en-GB" b="0" i="0" dirty="0">
                <a:solidFill>
                  <a:srgbClr val="161616"/>
                </a:solidFill>
                <a:effectLst/>
                <a:latin typeface="inherit"/>
              </a:rPr>
              <a:t>Logical database schemas are less abstract, compared to conceptual schemas. They clearly define schema objects with information, such as table names, field names, entity relationships, and integrity constraints—i.e. any rules that govern the database. However, they do not typically include any technical requirements.</a:t>
            </a:r>
          </a:p>
          <a:p>
            <a:pPr algn="l" fontAlgn="base">
              <a:buFont typeface="Arial" panose="020B0604020202020204" pitchFamily="34" charset="0"/>
              <a:buChar char="•"/>
            </a:pPr>
            <a:r>
              <a:rPr lang="en-GB" b="0" i="0" dirty="0">
                <a:solidFill>
                  <a:srgbClr val="161616"/>
                </a:solidFill>
                <a:effectLst/>
                <a:latin typeface="inherit"/>
              </a:rPr>
              <a:t>Physical database schemas provide the technical information that the logical database schema type lacks in addition to the contextual information, such as table names, field names, entity relationships, et cetera. That is, it also includes the syntax that will be used to create these data structures within disk storage.</a:t>
            </a:r>
          </a:p>
          <a:p>
            <a:endParaRPr lang="en-IN" dirty="0"/>
          </a:p>
        </p:txBody>
      </p:sp>
    </p:spTree>
    <p:extLst>
      <p:ext uri="{BB962C8B-B14F-4D97-AF65-F5344CB8AC3E}">
        <p14:creationId xmlns:p14="http://schemas.microsoft.com/office/powerpoint/2010/main" val="4177932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E5EC0-812D-22CE-9D2A-615FD22AEBDD}"/>
              </a:ext>
            </a:extLst>
          </p:cNvPr>
          <p:cNvSpPr>
            <a:spLocks noGrp="1"/>
          </p:cNvSpPr>
          <p:nvPr>
            <p:ph type="title"/>
          </p:nvPr>
        </p:nvSpPr>
        <p:spPr/>
        <p:txBody>
          <a:bodyPr/>
          <a:lstStyle/>
          <a:p>
            <a:r>
              <a:rPr lang="en-GB" dirty="0"/>
              <a:t>Database Instance</a:t>
            </a:r>
            <a:endParaRPr lang="en-IN" dirty="0"/>
          </a:p>
        </p:txBody>
      </p:sp>
      <p:sp>
        <p:nvSpPr>
          <p:cNvPr id="3" name="Content Placeholder 2">
            <a:extLst>
              <a:ext uri="{FF2B5EF4-FFF2-40B4-BE49-F238E27FC236}">
                <a16:creationId xmlns:a16="http://schemas.microsoft.com/office/drawing/2014/main" id="{C6E6F963-52D2-AF53-C775-A2060F5B40EC}"/>
              </a:ext>
            </a:extLst>
          </p:cNvPr>
          <p:cNvSpPr>
            <a:spLocks noGrp="1"/>
          </p:cNvSpPr>
          <p:nvPr>
            <p:ph idx="1"/>
          </p:nvPr>
        </p:nvSpPr>
        <p:spPr/>
        <p:txBody>
          <a:bodyPr/>
          <a:lstStyle/>
          <a:p>
            <a:r>
              <a:rPr lang="en-GB" b="0" i="0" dirty="0">
                <a:solidFill>
                  <a:srgbClr val="000000"/>
                </a:solidFill>
                <a:effectLst/>
                <a:latin typeface="Nunito" pitchFamily="2" charset="0"/>
              </a:rPr>
              <a:t>The situation where a data or information is stored in the database at a particular moment of time is called an instance. An instance is also called a current state or database state. The database schema that defines variables in tables which belong to a specific database, the records of these variables at a particular moment are called the instance of the database.</a:t>
            </a:r>
            <a:endParaRPr lang="en-IN" dirty="0"/>
          </a:p>
        </p:txBody>
      </p:sp>
      <p:pic>
        <p:nvPicPr>
          <p:cNvPr id="5" name="Picture 4">
            <a:extLst>
              <a:ext uri="{FF2B5EF4-FFF2-40B4-BE49-F238E27FC236}">
                <a16:creationId xmlns:a16="http://schemas.microsoft.com/office/drawing/2014/main" id="{98AD8CB0-037D-432C-172B-28FBD44F336E}"/>
              </a:ext>
            </a:extLst>
          </p:cNvPr>
          <p:cNvPicPr>
            <a:picLocks noChangeAspect="1"/>
          </p:cNvPicPr>
          <p:nvPr/>
        </p:nvPicPr>
        <p:blipFill>
          <a:blip r:embed="rId2"/>
          <a:stretch>
            <a:fillRect/>
          </a:stretch>
        </p:blipFill>
        <p:spPr>
          <a:xfrm>
            <a:off x="2634181" y="4170769"/>
            <a:ext cx="6673117" cy="1948594"/>
          </a:xfrm>
          <a:prstGeom prst="rect">
            <a:avLst/>
          </a:prstGeom>
        </p:spPr>
      </p:pic>
    </p:spTree>
    <p:extLst>
      <p:ext uri="{BB962C8B-B14F-4D97-AF65-F5344CB8AC3E}">
        <p14:creationId xmlns:p14="http://schemas.microsoft.com/office/powerpoint/2010/main" val="2331213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AE453-3A37-0DFA-8CFD-5DEAEE821E2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476F1D9-0308-1292-153A-75053EA88735}"/>
              </a:ext>
            </a:extLst>
          </p:cNvPr>
          <p:cNvSpPr>
            <a:spLocks noGrp="1"/>
          </p:cNvSpPr>
          <p:nvPr>
            <p:ph idx="1"/>
          </p:nvPr>
        </p:nvSpPr>
        <p:spPr/>
        <p:txBody>
          <a:bodyPr/>
          <a:lstStyle/>
          <a:p>
            <a:pPr algn="just"/>
            <a:r>
              <a:rPr lang="en-GB" b="0" i="0" dirty="0">
                <a:solidFill>
                  <a:srgbClr val="000000"/>
                </a:solidFill>
                <a:effectLst/>
                <a:latin typeface="Nunito" pitchFamily="2" charset="0"/>
              </a:rPr>
              <a:t>In the above table, rows are called instances.</a:t>
            </a:r>
          </a:p>
          <a:p>
            <a:pPr algn="just"/>
            <a:r>
              <a:rPr lang="en-GB" b="0" i="0" dirty="0">
                <a:solidFill>
                  <a:srgbClr val="000000"/>
                </a:solidFill>
                <a:effectLst/>
                <a:latin typeface="Nunito" pitchFamily="2" charset="0"/>
              </a:rPr>
              <a:t>Finally, we can say that the content of database at a point of time is called instance or database state.</a:t>
            </a:r>
          </a:p>
          <a:p>
            <a:pPr algn="just"/>
            <a:r>
              <a:rPr lang="en-GB" b="0" i="0" dirty="0">
                <a:solidFill>
                  <a:srgbClr val="000000"/>
                </a:solidFill>
                <a:effectLst/>
                <a:latin typeface="Nunito" pitchFamily="2" charset="0"/>
              </a:rPr>
              <a:t>There are three types of states present in database −</a:t>
            </a:r>
          </a:p>
          <a:p>
            <a:pPr algn="just">
              <a:buFont typeface="Arial" panose="020B0604020202020204" pitchFamily="34" charset="0"/>
              <a:buChar char="•"/>
            </a:pPr>
            <a:r>
              <a:rPr lang="en-GB" b="0" i="0" dirty="0">
                <a:solidFill>
                  <a:srgbClr val="000000"/>
                </a:solidFill>
                <a:effectLst/>
                <a:latin typeface="Nunito" pitchFamily="2" charset="0"/>
              </a:rPr>
              <a:t>Empty state: When ever a new database is defined.</a:t>
            </a:r>
          </a:p>
          <a:p>
            <a:pPr algn="just">
              <a:buFont typeface="Arial" panose="020B0604020202020204" pitchFamily="34" charset="0"/>
              <a:buChar char="•"/>
            </a:pPr>
            <a:r>
              <a:rPr lang="en-GB" b="0" i="0" dirty="0">
                <a:solidFill>
                  <a:srgbClr val="000000"/>
                </a:solidFill>
                <a:effectLst/>
                <a:latin typeface="Nunito" pitchFamily="2" charset="0"/>
              </a:rPr>
              <a:t>Initial state: first time data is loaded in database.</a:t>
            </a:r>
          </a:p>
          <a:p>
            <a:pPr algn="just">
              <a:buFont typeface="Arial" panose="020B0604020202020204" pitchFamily="34" charset="0"/>
              <a:buChar char="•"/>
            </a:pPr>
            <a:r>
              <a:rPr lang="en-GB" b="0" i="0" dirty="0">
                <a:solidFill>
                  <a:srgbClr val="000000"/>
                </a:solidFill>
                <a:effectLst/>
                <a:latin typeface="Nunito" pitchFamily="2" charset="0"/>
              </a:rPr>
              <a:t>Current state: the present operation is applied to database.</a:t>
            </a:r>
          </a:p>
          <a:p>
            <a:endParaRPr lang="en-IN" dirty="0"/>
          </a:p>
        </p:txBody>
      </p:sp>
    </p:spTree>
    <p:extLst>
      <p:ext uri="{BB962C8B-B14F-4D97-AF65-F5344CB8AC3E}">
        <p14:creationId xmlns:p14="http://schemas.microsoft.com/office/powerpoint/2010/main" val="17135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AC822-B0A1-C203-703E-404C468D318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B629755-B6F7-FB2B-6D52-EDBF2B955AE4}"/>
              </a:ext>
            </a:extLst>
          </p:cNvPr>
          <p:cNvPicPr>
            <a:picLocks noGrp="1" noChangeAspect="1"/>
          </p:cNvPicPr>
          <p:nvPr>
            <p:ph idx="1"/>
          </p:nvPr>
        </p:nvPicPr>
        <p:blipFill>
          <a:blip r:embed="rId2"/>
          <a:stretch>
            <a:fillRect/>
          </a:stretch>
        </p:blipFill>
        <p:spPr>
          <a:xfrm>
            <a:off x="2414714" y="2413066"/>
            <a:ext cx="6711218" cy="2528451"/>
          </a:xfrm>
        </p:spPr>
      </p:pic>
    </p:spTree>
    <p:extLst>
      <p:ext uri="{BB962C8B-B14F-4D97-AF65-F5344CB8AC3E}">
        <p14:creationId xmlns:p14="http://schemas.microsoft.com/office/powerpoint/2010/main" val="403870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A5FF8-0A97-D47E-6D57-CEA522E907FD}"/>
              </a:ext>
            </a:extLst>
          </p:cNvPr>
          <p:cNvSpPr>
            <a:spLocks noGrp="1"/>
          </p:cNvSpPr>
          <p:nvPr>
            <p:ph type="title"/>
          </p:nvPr>
        </p:nvSpPr>
        <p:spPr/>
        <p:txBody>
          <a:bodyPr/>
          <a:lstStyle/>
          <a:p>
            <a:r>
              <a:rPr lang="en-GB" b="0" i="1" dirty="0">
                <a:solidFill>
                  <a:srgbClr val="161616"/>
                </a:solidFill>
                <a:effectLst/>
                <a:latin typeface="inherit"/>
              </a:rPr>
              <a:t>Database schema vs. database instance</a:t>
            </a:r>
            <a:br>
              <a:rPr lang="en-GB" b="0" i="0" dirty="0">
                <a:solidFill>
                  <a:srgbClr val="161616"/>
                </a:solidFill>
                <a:effectLst/>
                <a:latin typeface="IBM Plex Sans" panose="020B0503050203000203" pitchFamily="34" charset="0"/>
              </a:rPr>
            </a:br>
            <a:endParaRPr lang="en-IN" dirty="0"/>
          </a:p>
        </p:txBody>
      </p:sp>
      <p:sp>
        <p:nvSpPr>
          <p:cNvPr id="3" name="Content Placeholder 2">
            <a:extLst>
              <a:ext uri="{FF2B5EF4-FFF2-40B4-BE49-F238E27FC236}">
                <a16:creationId xmlns:a16="http://schemas.microsoft.com/office/drawing/2014/main" id="{18E2EC88-52DC-F65E-4FDF-0EF0306613BA}"/>
              </a:ext>
            </a:extLst>
          </p:cNvPr>
          <p:cNvSpPr>
            <a:spLocks noGrp="1"/>
          </p:cNvSpPr>
          <p:nvPr>
            <p:ph idx="1"/>
          </p:nvPr>
        </p:nvSpPr>
        <p:spPr/>
        <p:txBody>
          <a:bodyPr/>
          <a:lstStyle/>
          <a:p>
            <a:pPr algn="l" fontAlgn="base"/>
            <a:r>
              <a:rPr lang="en-GB" b="0" i="0" dirty="0">
                <a:solidFill>
                  <a:srgbClr val="161616"/>
                </a:solidFill>
                <a:effectLst/>
                <a:latin typeface="IBM Plex Sans" panose="020B0503050203000203" pitchFamily="34" charset="0"/>
              </a:rPr>
              <a:t>A database schema is considered the “blueprint” of a database which describes how the data may relate to other tables or other data models. However, the schema does not actually contain data.</a:t>
            </a:r>
          </a:p>
          <a:p>
            <a:pPr algn="l" fontAlgn="base"/>
            <a:r>
              <a:rPr lang="en-GB" b="0" i="0" dirty="0">
                <a:solidFill>
                  <a:srgbClr val="161616"/>
                </a:solidFill>
                <a:effectLst/>
                <a:latin typeface="IBM Plex Sans" panose="020B0503050203000203" pitchFamily="34" charset="0"/>
              </a:rPr>
              <a:t>A sample of data from a database at a single moment in time is known as a database instance. It contains all the properties that the schema describes as data values. Since database instances are just a snapshot at a given moment, they’re likely to change over time, unlike database schemas.</a:t>
            </a:r>
          </a:p>
          <a:p>
            <a:endParaRPr lang="en-IN" dirty="0"/>
          </a:p>
        </p:txBody>
      </p:sp>
    </p:spTree>
    <p:extLst>
      <p:ext uri="{BB962C8B-B14F-4D97-AF65-F5344CB8AC3E}">
        <p14:creationId xmlns:p14="http://schemas.microsoft.com/office/powerpoint/2010/main" val="4262576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FFE64-3486-62E5-D233-9D5FEDA699CD}"/>
              </a:ext>
            </a:extLst>
          </p:cNvPr>
          <p:cNvSpPr>
            <a:spLocks noGrp="1"/>
          </p:cNvSpPr>
          <p:nvPr>
            <p:ph type="title"/>
          </p:nvPr>
        </p:nvSpPr>
        <p:spPr/>
        <p:txBody>
          <a:bodyPr/>
          <a:lstStyle/>
          <a:p>
            <a:r>
              <a:rPr lang="en-GB" dirty="0"/>
              <a:t>Attributes</a:t>
            </a:r>
            <a:endParaRPr lang="en-IN" dirty="0"/>
          </a:p>
        </p:txBody>
      </p:sp>
      <p:sp>
        <p:nvSpPr>
          <p:cNvPr id="3" name="Content Placeholder 2">
            <a:extLst>
              <a:ext uri="{FF2B5EF4-FFF2-40B4-BE49-F238E27FC236}">
                <a16:creationId xmlns:a16="http://schemas.microsoft.com/office/drawing/2014/main" id="{1913D0B2-838C-39E1-0D48-3479C69A9613}"/>
              </a:ext>
            </a:extLst>
          </p:cNvPr>
          <p:cNvSpPr>
            <a:spLocks noGrp="1"/>
          </p:cNvSpPr>
          <p:nvPr>
            <p:ph idx="1"/>
          </p:nvPr>
        </p:nvSpPr>
        <p:spPr/>
        <p:txBody>
          <a:bodyPr>
            <a:normAutofit fontScale="92500" lnSpcReduction="10000"/>
          </a:bodyPr>
          <a:lstStyle/>
          <a:p>
            <a:r>
              <a:rPr lang="en-GB" b="0" i="0" dirty="0">
                <a:solidFill>
                  <a:srgbClr val="273239"/>
                </a:solidFill>
                <a:effectLst/>
                <a:latin typeface="urw-din"/>
              </a:rPr>
              <a:t>Attributes are the </a:t>
            </a:r>
            <a:r>
              <a:rPr lang="en-GB" b="1" i="0" dirty="0">
                <a:solidFill>
                  <a:srgbClr val="273239"/>
                </a:solidFill>
                <a:effectLst/>
                <a:latin typeface="urw-din"/>
              </a:rPr>
              <a:t>properties that define the entity type</a:t>
            </a:r>
            <a:r>
              <a:rPr lang="en-GB" b="0" i="0" dirty="0">
                <a:solidFill>
                  <a:srgbClr val="273239"/>
                </a:solidFill>
                <a:effectLst/>
                <a:latin typeface="urw-din"/>
              </a:rPr>
              <a:t>. For example, </a:t>
            </a:r>
            <a:r>
              <a:rPr lang="en-GB" b="0" i="0" dirty="0" err="1">
                <a:solidFill>
                  <a:srgbClr val="273239"/>
                </a:solidFill>
                <a:effectLst/>
                <a:latin typeface="urw-din"/>
              </a:rPr>
              <a:t>Roll_No</a:t>
            </a:r>
            <a:r>
              <a:rPr lang="en-GB" b="0" i="0" dirty="0">
                <a:solidFill>
                  <a:srgbClr val="273239"/>
                </a:solidFill>
                <a:effectLst/>
                <a:latin typeface="urw-din"/>
              </a:rPr>
              <a:t>, Name, DOB, Age, Address, </a:t>
            </a:r>
            <a:r>
              <a:rPr lang="en-GB" b="0" i="0" dirty="0" err="1">
                <a:solidFill>
                  <a:srgbClr val="273239"/>
                </a:solidFill>
                <a:effectLst/>
                <a:latin typeface="urw-din"/>
              </a:rPr>
              <a:t>Mobile_No</a:t>
            </a:r>
            <a:r>
              <a:rPr lang="en-GB" b="0" i="0" dirty="0">
                <a:solidFill>
                  <a:srgbClr val="273239"/>
                </a:solidFill>
                <a:effectLst/>
                <a:latin typeface="urw-din"/>
              </a:rPr>
              <a:t> are the attributes that define entity type Student. In ER diagram, the attribute is represented by an oval. </a:t>
            </a:r>
          </a:p>
          <a:p>
            <a:r>
              <a:rPr lang="en-GB" b="1" i="0" dirty="0">
                <a:solidFill>
                  <a:srgbClr val="273239"/>
                </a:solidFill>
                <a:effectLst/>
                <a:latin typeface="urw-din"/>
              </a:rPr>
              <a:t> Key Attribute –</a:t>
            </a:r>
            <a:r>
              <a:rPr lang="en-GB" b="0" i="0" dirty="0">
                <a:solidFill>
                  <a:srgbClr val="273239"/>
                </a:solidFill>
                <a:effectLst/>
                <a:latin typeface="urw-din"/>
              </a:rPr>
              <a:t> </a:t>
            </a:r>
            <a:br>
              <a:rPr lang="en-GB" dirty="0"/>
            </a:br>
            <a:r>
              <a:rPr lang="en-GB" b="0" i="0" dirty="0">
                <a:solidFill>
                  <a:srgbClr val="273239"/>
                </a:solidFill>
                <a:effectLst/>
                <a:latin typeface="urw-din"/>
              </a:rPr>
              <a:t>The attribute which </a:t>
            </a:r>
            <a:r>
              <a:rPr lang="en-GB" b="1" i="0" dirty="0">
                <a:solidFill>
                  <a:srgbClr val="273239"/>
                </a:solidFill>
                <a:effectLst/>
                <a:latin typeface="urw-din"/>
              </a:rPr>
              <a:t>uniquely identifies each entity</a:t>
            </a:r>
            <a:r>
              <a:rPr lang="en-GB" b="0" i="0" dirty="0">
                <a:solidFill>
                  <a:srgbClr val="273239"/>
                </a:solidFill>
                <a:effectLst/>
                <a:latin typeface="urw-din"/>
              </a:rPr>
              <a:t> in the entity set is called key </a:t>
            </a:r>
            <a:r>
              <a:rPr lang="en-GB" b="0" i="0" dirty="0" err="1">
                <a:solidFill>
                  <a:srgbClr val="273239"/>
                </a:solidFill>
                <a:effectLst/>
                <a:latin typeface="urw-din"/>
              </a:rPr>
              <a:t>attribute.For</a:t>
            </a:r>
            <a:r>
              <a:rPr lang="en-GB" b="0" i="0" dirty="0">
                <a:solidFill>
                  <a:srgbClr val="273239"/>
                </a:solidFill>
                <a:effectLst/>
                <a:latin typeface="urw-din"/>
              </a:rPr>
              <a:t> example, </a:t>
            </a:r>
            <a:r>
              <a:rPr lang="en-GB" b="0" i="0" dirty="0" err="1">
                <a:solidFill>
                  <a:srgbClr val="273239"/>
                </a:solidFill>
                <a:effectLst/>
                <a:latin typeface="urw-din"/>
              </a:rPr>
              <a:t>Roll_No</a:t>
            </a:r>
            <a:r>
              <a:rPr lang="en-GB" b="0" i="0" dirty="0">
                <a:solidFill>
                  <a:srgbClr val="273239"/>
                </a:solidFill>
                <a:effectLst/>
                <a:latin typeface="urw-din"/>
              </a:rPr>
              <a:t> will be unique for each student. In ER diagram, key attribute is represented by an oval with underlying lines.</a:t>
            </a:r>
          </a:p>
          <a:p>
            <a:r>
              <a:rPr lang="en-GB" b="0" i="0" dirty="0">
                <a:solidFill>
                  <a:srgbClr val="273239"/>
                </a:solidFill>
                <a:effectLst/>
                <a:latin typeface="urw-din"/>
              </a:rPr>
              <a:t>An attribute </a:t>
            </a:r>
            <a:r>
              <a:rPr lang="en-GB" b="1" i="0" dirty="0">
                <a:solidFill>
                  <a:srgbClr val="273239"/>
                </a:solidFill>
                <a:effectLst/>
                <a:latin typeface="urw-din"/>
              </a:rPr>
              <a:t>composed of many other attribute</a:t>
            </a:r>
            <a:r>
              <a:rPr lang="en-GB" b="0" i="0" dirty="0">
                <a:solidFill>
                  <a:srgbClr val="273239"/>
                </a:solidFill>
                <a:effectLst/>
                <a:latin typeface="urw-din"/>
              </a:rPr>
              <a:t> is called as composite attribute. For example, Address attribute of student Entity type consists of Street, City, State, and Country. In ER diagram, composite attribute is represented by an oval comprising of ovals. </a:t>
            </a:r>
            <a:r>
              <a:rPr lang="en-GB" b="0" i="0" dirty="0" err="1">
                <a:solidFill>
                  <a:srgbClr val="273239"/>
                </a:solidFill>
                <a:effectLst/>
                <a:latin typeface="urw-din"/>
              </a:rPr>
              <a:t>Eg.</a:t>
            </a:r>
            <a:r>
              <a:rPr lang="en-GB" b="0" i="0" dirty="0">
                <a:solidFill>
                  <a:srgbClr val="273239"/>
                </a:solidFill>
                <a:effectLst/>
                <a:latin typeface="urw-din"/>
              </a:rPr>
              <a:t> address</a:t>
            </a:r>
            <a:endParaRPr lang="en-IN" dirty="0"/>
          </a:p>
        </p:txBody>
      </p:sp>
    </p:spTree>
    <p:extLst>
      <p:ext uri="{BB962C8B-B14F-4D97-AF65-F5344CB8AC3E}">
        <p14:creationId xmlns:p14="http://schemas.microsoft.com/office/powerpoint/2010/main" val="1125544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947C6-0493-1E60-4F58-FADE1D5A545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C5B4010-D270-EE58-070A-E7E28381855C}"/>
              </a:ext>
            </a:extLst>
          </p:cNvPr>
          <p:cNvSpPr>
            <a:spLocks noGrp="1"/>
          </p:cNvSpPr>
          <p:nvPr>
            <p:ph idx="1"/>
          </p:nvPr>
        </p:nvSpPr>
        <p:spPr/>
        <p:txBody>
          <a:bodyPr/>
          <a:lstStyle/>
          <a:p>
            <a:r>
              <a:rPr lang="en-GB" b="1" i="0" dirty="0">
                <a:solidFill>
                  <a:srgbClr val="273239"/>
                </a:solidFill>
                <a:effectLst/>
                <a:latin typeface="urw-din"/>
              </a:rPr>
              <a:t>Multivalued Attribute –</a:t>
            </a:r>
            <a:r>
              <a:rPr lang="en-GB" b="0" i="0" dirty="0">
                <a:solidFill>
                  <a:srgbClr val="273239"/>
                </a:solidFill>
                <a:effectLst/>
                <a:latin typeface="urw-din"/>
              </a:rPr>
              <a:t> </a:t>
            </a:r>
            <a:br>
              <a:rPr lang="en-GB" dirty="0"/>
            </a:br>
            <a:r>
              <a:rPr lang="en-GB" b="0" i="0" dirty="0">
                <a:solidFill>
                  <a:srgbClr val="273239"/>
                </a:solidFill>
                <a:effectLst/>
                <a:latin typeface="urw-din"/>
              </a:rPr>
              <a:t>An attribute consisting </a:t>
            </a:r>
            <a:r>
              <a:rPr lang="en-GB" b="1" i="0" dirty="0">
                <a:solidFill>
                  <a:srgbClr val="273239"/>
                </a:solidFill>
                <a:effectLst/>
                <a:latin typeface="urw-din"/>
              </a:rPr>
              <a:t>more than one value</a:t>
            </a:r>
            <a:r>
              <a:rPr lang="en-GB" b="0" i="0" dirty="0">
                <a:solidFill>
                  <a:srgbClr val="273239"/>
                </a:solidFill>
                <a:effectLst/>
                <a:latin typeface="urw-din"/>
              </a:rPr>
              <a:t> for a given entity. For example, </a:t>
            </a:r>
            <a:r>
              <a:rPr lang="en-GB" b="0" i="0" dirty="0" err="1">
                <a:solidFill>
                  <a:srgbClr val="273239"/>
                </a:solidFill>
                <a:effectLst/>
                <a:latin typeface="urw-din"/>
              </a:rPr>
              <a:t>Phone_No</a:t>
            </a:r>
            <a:r>
              <a:rPr lang="en-GB" b="0" i="0" dirty="0">
                <a:solidFill>
                  <a:srgbClr val="273239"/>
                </a:solidFill>
                <a:effectLst/>
                <a:latin typeface="urw-din"/>
              </a:rPr>
              <a:t> (can be more than one for a given student). In ER diagram, a multivalued attribute is represented by a double oval. </a:t>
            </a:r>
            <a:r>
              <a:rPr lang="en-GB" b="0" i="0" dirty="0" err="1">
                <a:solidFill>
                  <a:srgbClr val="273239"/>
                </a:solidFill>
                <a:effectLst/>
                <a:latin typeface="urw-din"/>
              </a:rPr>
              <a:t>Eg.</a:t>
            </a:r>
            <a:r>
              <a:rPr lang="en-GB" b="0" i="0" dirty="0">
                <a:solidFill>
                  <a:srgbClr val="273239"/>
                </a:solidFill>
                <a:effectLst/>
                <a:latin typeface="urw-din"/>
              </a:rPr>
              <a:t> Phone number </a:t>
            </a:r>
            <a:endParaRPr lang="en-IN" dirty="0"/>
          </a:p>
        </p:txBody>
      </p:sp>
      <p:pic>
        <p:nvPicPr>
          <p:cNvPr id="5" name="Picture 4">
            <a:extLst>
              <a:ext uri="{FF2B5EF4-FFF2-40B4-BE49-F238E27FC236}">
                <a16:creationId xmlns:a16="http://schemas.microsoft.com/office/drawing/2014/main" id="{342FAD50-63AE-DCF1-ADEB-602FDD8CB097}"/>
              </a:ext>
            </a:extLst>
          </p:cNvPr>
          <p:cNvPicPr>
            <a:picLocks noChangeAspect="1"/>
          </p:cNvPicPr>
          <p:nvPr/>
        </p:nvPicPr>
        <p:blipFill>
          <a:blip r:embed="rId2"/>
          <a:stretch>
            <a:fillRect/>
          </a:stretch>
        </p:blipFill>
        <p:spPr>
          <a:xfrm>
            <a:off x="3811877" y="4320955"/>
            <a:ext cx="2647378" cy="1127868"/>
          </a:xfrm>
          <a:prstGeom prst="rect">
            <a:avLst/>
          </a:prstGeom>
        </p:spPr>
      </p:pic>
    </p:spTree>
    <p:extLst>
      <p:ext uri="{BB962C8B-B14F-4D97-AF65-F5344CB8AC3E}">
        <p14:creationId xmlns:p14="http://schemas.microsoft.com/office/powerpoint/2010/main" val="4011474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EDCF2-567B-621E-8577-50A6A564118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99895CE-2860-968F-585B-ABE26C580707}"/>
              </a:ext>
            </a:extLst>
          </p:cNvPr>
          <p:cNvSpPr>
            <a:spLocks noGrp="1"/>
          </p:cNvSpPr>
          <p:nvPr>
            <p:ph idx="1"/>
          </p:nvPr>
        </p:nvSpPr>
        <p:spPr/>
        <p:txBody>
          <a:bodyPr/>
          <a:lstStyle/>
          <a:p>
            <a:r>
              <a:rPr lang="en-GB" b="0" i="0" dirty="0">
                <a:solidFill>
                  <a:srgbClr val="273239"/>
                </a:solidFill>
                <a:effectLst/>
                <a:latin typeface="urw-din"/>
              </a:rPr>
              <a:t>An attribute that can be </a:t>
            </a:r>
            <a:r>
              <a:rPr lang="en-GB" b="1" i="0" dirty="0">
                <a:solidFill>
                  <a:srgbClr val="273239"/>
                </a:solidFill>
                <a:effectLst/>
                <a:latin typeface="urw-din"/>
              </a:rPr>
              <a:t>derived from other attributes</a:t>
            </a:r>
            <a:r>
              <a:rPr lang="en-GB" b="0" i="0" dirty="0">
                <a:solidFill>
                  <a:srgbClr val="273239"/>
                </a:solidFill>
                <a:effectLst/>
                <a:latin typeface="urw-din"/>
              </a:rPr>
              <a:t> of the entity type is known as a derived attribute. e.g.; Age (can be derived from DOB). In ER diagram, the derived attribute is represented by a dashed oval. </a:t>
            </a:r>
            <a:endParaRPr lang="en-IN" dirty="0"/>
          </a:p>
        </p:txBody>
      </p:sp>
      <p:pic>
        <p:nvPicPr>
          <p:cNvPr id="5" name="Picture 4">
            <a:extLst>
              <a:ext uri="{FF2B5EF4-FFF2-40B4-BE49-F238E27FC236}">
                <a16:creationId xmlns:a16="http://schemas.microsoft.com/office/drawing/2014/main" id="{92ED854B-EB30-A9D5-A67C-6A1834CC353E}"/>
              </a:ext>
            </a:extLst>
          </p:cNvPr>
          <p:cNvPicPr>
            <a:picLocks noChangeAspect="1"/>
          </p:cNvPicPr>
          <p:nvPr/>
        </p:nvPicPr>
        <p:blipFill>
          <a:blip r:embed="rId2"/>
          <a:stretch>
            <a:fillRect/>
          </a:stretch>
        </p:blipFill>
        <p:spPr>
          <a:xfrm>
            <a:off x="2977173" y="3562472"/>
            <a:ext cx="5323254" cy="2062897"/>
          </a:xfrm>
          <a:prstGeom prst="rect">
            <a:avLst/>
          </a:prstGeom>
        </p:spPr>
      </p:pic>
    </p:spTree>
    <p:extLst>
      <p:ext uri="{BB962C8B-B14F-4D97-AF65-F5344CB8AC3E}">
        <p14:creationId xmlns:p14="http://schemas.microsoft.com/office/powerpoint/2010/main" val="2070622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77031-3CF2-8DEC-BA62-A919773927C2}"/>
              </a:ext>
            </a:extLst>
          </p:cNvPr>
          <p:cNvSpPr>
            <a:spLocks noGrp="1"/>
          </p:cNvSpPr>
          <p:nvPr>
            <p:ph type="title"/>
          </p:nvPr>
        </p:nvSpPr>
        <p:spPr/>
        <p:txBody>
          <a:bodyPr/>
          <a:lstStyle/>
          <a:p>
            <a:r>
              <a:rPr lang="en-GB" b="1" i="0" dirty="0">
                <a:solidFill>
                  <a:srgbClr val="273239"/>
                </a:solidFill>
                <a:effectLst/>
                <a:latin typeface="urw-din"/>
              </a:rPr>
              <a:t>Relationship Type and Relationship Set</a:t>
            </a:r>
            <a:endParaRPr lang="en-IN" dirty="0"/>
          </a:p>
        </p:txBody>
      </p:sp>
      <p:sp>
        <p:nvSpPr>
          <p:cNvPr id="3" name="Content Placeholder 2">
            <a:extLst>
              <a:ext uri="{FF2B5EF4-FFF2-40B4-BE49-F238E27FC236}">
                <a16:creationId xmlns:a16="http://schemas.microsoft.com/office/drawing/2014/main" id="{043E581D-9CF8-89E4-B103-853885A4FDC0}"/>
              </a:ext>
            </a:extLst>
          </p:cNvPr>
          <p:cNvSpPr>
            <a:spLocks noGrp="1"/>
          </p:cNvSpPr>
          <p:nvPr>
            <p:ph idx="1"/>
          </p:nvPr>
        </p:nvSpPr>
        <p:spPr/>
        <p:txBody>
          <a:bodyPr/>
          <a:lstStyle/>
          <a:p>
            <a:r>
              <a:rPr lang="en-GB" b="0" i="0" dirty="0">
                <a:solidFill>
                  <a:srgbClr val="273239"/>
                </a:solidFill>
                <a:effectLst/>
                <a:latin typeface="urw-din"/>
              </a:rPr>
              <a:t>A relationship type represents the </a:t>
            </a:r>
            <a:r>
              <a:rPr lang="en-GB" b="1" i="0" dirty="0">
                <a:solidFill>
                  <a:srgbClr val="273239"/>
                </a:solidFill>
                <a:effectLst/>
                <a:latin typeface="urw-din"/>
              </a:rPr>
              <a:t>association between entity types</a:t>
            </a:r>
            <a:r>
              <a:rPr lang="en-GB" b="0" i="0" dirty="0">
                <a:solidFill>
                  <a:srgbClr val="273239"/>
                </a:solidFill>
                <a:effectLst/>
                <a:latin typeface="urw-din"/>
              </a:rPr>
              <a:t>. For </a:t>
            </a:r>
            <a:r>
              <a:rPr lang="en-GB" b="0" i="0" dirty="0" err="1">
                <a:solidFill>
                  <a:srgbClr val="273239"/>
                </a:solidFill>
                <a:effectLst/>
                <a:latin typeface="urw-din"/>
              </a:rPr>
              <a:t>example,‘Enrolled</a:t>
            </a:r>
            <a:r>
              <a:rPr lang="en-GB" b="0" i="0" dirty="0">
                <a:solidFill>
                  <a:srgbClr val="273239"/>
                </a:solidFill>
                <a:effectLst/>
                <a:latin typeface="urw-din"/>
              </a:rPr>
              <a:t> in’ is a relationship type that exists between entity type Student and Course. In ER diagram, the relationship type is represented by a diamond and connecting the entities with lines.</a:t>
            </a:r>
          </a:p>
          <a:p>
            <a:endParaRPr lang="en-IN" dirty="0"/>
          </a:p>
        </p:txBody>
      </p:sp>
      <p:pic>
        <p:nvPicPr>
          <p:cNvPr id="5" name="Picture 4">
            <a:extLst>
              <a:ext uri="{FF2B5EF4-FFF2-40B4-BE49-F238E27FC236}">
                <a16:creationId xmlns:a16="http://schemas.microsoft.com/office/drawing/2014/main" id="{A1B4AC62-87EA-C2AB-3807-FF936AB17DF4}"/>
              </a:ext>
            </a:extLst>
          </p:cNvPr>
          <p:cNvPicPr>
            <a:picLocks noChangeAspect="1"/>
          </p:cNvPicPr>
          <p:nvPr/>
        </p:nvPicPr>
        <p:blipFill>
          <a:blip r:embed="rId2"/>
          <a:stretch>
            <a:fillRect/>
          </a:stretch>
        </p:blipFill>
        <p:spPr>
          <a:xfrm>
            <a:off x="2394951" y="4065427"/>
            <a:ext cx="7114000" cy="1132144"/>
          </a:xfrm>
          <a:prstGeom prst="rect">
            <a:avLst/>
          </a:prstGeom>
        </p:spPr>
      </p:pic>
    </p:spTree>
    <p:extLst>
      <p:ext uri="{BB962C8B-B14F-4D97-AF65-F5344CB8AC3E}">
        <p14:creationId xmlns:p14="http://schemas.microsoft.com/office/powerpoint/2010/main" val="181405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8F64F-CC9E-C3D6-4C34-9BDC7CEA4FBE}"/>
              </a:ext>
            </a:extLst>
          </p:cNvPr>
          <p:cNvSpPr>
            <a:spLocks noGrp="1"/>
          </p:cNvSpPr>
          <p:nvPr>
            <p:ph type="title"/>
          </p:nvPr>
        </p:nvSpPr>
        <p:spPr/>
        <p:txBody>
          <a:bodyPr/>
          <a:lstStyle/>
          <a:p>
            <a:r>
              <a:rPr lang="en-GB" dirty="0"/>
              <a:t>Degree of Relationship set</a:t>
            </a:r>
            <a:endParaRPr lang="en-IN" dirty="0"/>
          </a:p>
        </p:txBody>
      </p:sp>
      <p:sp>
        <p:nvSpPr>
          <p:cNvPr id="3" name="Content Placeholder 2">
            <a:extLst>
              <a:ext uri="{FF2B5EF4-FFF2-40B4-BE49-F238E27FC236}">
                <a16:creationId xmlns:a16="http://schemas.microsoft.com/office/drawing/2014/main" id="{54363970-D8DC-4FDE-3AB9-488CB2AB0C21}"/>
              </a:ext>
            </a:extLst>
          </p:cNvPr>
          <p:cNvSpPr>
            <a:spLocks noGrp="1"/>
          </p:cNvSpPr>
          <p:nvPr>
            <p:ph idx="1"/>
          </p:nvPr>
        </p:nvSpPr>
        <p:spPr/>
        <p:txBody>
          <a:bodyPr/>
          <a:lstStyle/>
          <a:p>
            <a:pPr algn="l" fontAlgn="base"/>
            <a:r>
              <a:rPr lang="en-GB" b="0" i="0" dirty="0">
                <a:solidFill>
                  <a:srgbClr val="273239"/>
                </a:solidFill>
                <a:effectLst/>
                <a:latin typeface="urw-din"/>
              </a:rPr>
              <a:t>The number of different entity sets </a:t>
            </a:r>
            <a:r>
              <a:rPr lang="en-GB" b="1" i="0" dirty="0">
                <a:solidFill>
                  <a:srgbClr val="273239"/>
                </a:solidFill>
                <a:effectLst/>
                <a:latin typeface="urw-din"/>
              </a:rPr>
              <a:t>participating in a relationship</a:t>
            </a:r>
            <a:r>
              <a:rPr lang="en-GB" b="0" i="0" dirty="0">
                <a:solidFill>
                  <a:srgbClr val="273239"/>
                </a:solidFill>
                <a:effectLst/>
                <a:latin typeface="urw-din"/>
              </a:rPr>
              <a:t> set is called as the degree of a relationship set.  </a:t>
            </a:r>
          </a:p>
          <a:p>
            <a:pPr algn="l" fontAlgn="base"/>
            <a:r>
              <a:rPr lang="en-GB" b="1" i="0" dirty="0">
                <a:solidFill>
                  <a:srgbClr val="273239"/>
                </a:solidFill>
                <a:effectLst/>
                <a:latin typeface="urw-din"/>
              </a:rPr>
              <a:t>1. Unary Relationship –</a:t>
            </a:r>
            <a:r>
              <a:rPr lang="en-GB" b="0" i="0" dirty="0">
                <a:solidFill>
                  <a:srgbClr val="273239"/>
                </a:solidFill>
                <a:effectLst/>
                <a:latin typeface="urw-din"/>
              </a:rPr>
              <a:t> </a:t>
            </a:r>
            <a:br>
              <a:rPr lang="en-GB" b="0" i="0" dirty="0">
                <a:solidFill>
                  <a:srgbClr val="273239"/>
                </a:solidFill>
                <a:effectLst/>
                <a:latin typeface="urw-din"/>
              </a:rPr>
            </a:br>
            <a:r>
              <a:rPr lang="en-GB" b="0" i="0" dirty="0">
                <a:solidFill>
                  <a:srgbClr val="273239"/>
                </a:solidFill>
                <a:effectLst/>
                <a:latin typeface="urw-din"/>
              </a:rPr>
              <a:t>When there is </a:t>
            </a:r>
            <a:r>
              <a:rPr lang="en-GB" b="1" i="0" dirty="0">
                <a:solidFill>
                  <a:srgbClr val="273239"/>
                </a:solidFill>
                <a:effectLst/>
                <a:latin typeface="urw-din"/>
              </a:rPr>
              <a:t>only ONE entity set participating in a relation</a:t>
            </a:r>
            <a:r>
              <a:rPr lang="en-GB" b="0" i="0" dirty="0">
                <a:solidFill>
                  <a:srgbClr val="273239"/>
                </a:solidFill>
                <a:effectLst/>
                <a:latin typeface="urw-din"/>
              </a:rPr>
              <a:t>, the relationship is called a unary relationship. For example, one person is married to only one person. </a:t>
            </a:r>
          </a:p>
          <a:p>
            <a:endParaRPr lang="en-IN" dirty="0"/>
          </a:p>
        </p:txBody>
      </p:sp>
      <p:pic>
        <p:nvPicPr>
          <p:cNvPr id="5" name="Picture 4">
            <a:extLst>
              <a:ext uri="{FF2B5EF4-FFF2-40B4-BE49-F238E27FC236}">
                <a16:creationId xmlns:a16="http://schemas.microsoft.com/office/drawing/2014/main" id="{4B9429F2-8A92-F945-7051-36E281D162B6}"/>
              </a:ext>
            </a:extLst>
          </p:cNvPr>
          <p:cNvPicPr>
            <a:picLocks noChangeAspect="1"/>
          </p:cNvPicPr>
          <p:nvPr/>
        </p:nvPicPr>
        <p:blipFill>
          <a:blip r:embed="rId2"/>
          <a:stretch>
            <a:fillRect/>
          </a:stretch>
        </p:blipFill>
        <p:spPr>
          <a:xfrm>
            <a:off x="2806705" y="4330648"/>
            <a:ext cx="7217417" cy="1981252"/>
          </a:xfrm>
          <a:prstGeom prst="rect">
            <a:avLst/>
          </a:prstGeom>
        </p:spPr>
      </p:pic>
    </p:spTree>
    <p:extLst>
      <p:ext uri="{BB962C8B-B14F-4D97-AF65-F5344CB8AC3E}">
        <p14:creationId xmlns:p14="http://schemas.microsoft.com/office/powerpoint/2010/main" val="3633974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E8425-0FA3-15F5-BBBC-66DCBF02867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E059CAD-F0B1-9388-ADAE-A684A2936DAE}"/>
              </a:ext>
            </a:extLst>
          </p:cNvPr>
          <p:cNvSpPr>
            <a:spLocks noGrp="1"/>
          </p:cNvSpPr>
          <p:nvPr>
            <p:ph idx="1"/>
          </p:nvPr>
        </p:nvSpPr>
        <p:spPr/>
        <p:txBody>
          <a:bodyPr/>
          <a:lstStyle/>
          <a:p>
            <a:r>
              <a:rPr lang="en-GB" b="1" i="0" dirty="0">
                <a:solidFill>
                  <a:srgbClr val="273239"/>
                </a:solidFill>
                <a:effectLst/>
                <a:latin typeface="urw-din"/>
              </a:rPr>
              <a:t>Binary Relationship –</a:t>
            </a:r>
            <a:r>
              <a:rPr lang="en-GB" b="0" i="0" dirty="0">
                <a:solidFill>
                  <a:srgbClr val="273239"/>
                </a:solidFill>
                <a:effectLst/>
                <a:latin typeface="urw-din"/>
              </a:rPr>
              <a:t> </a:t>
            </a:r>
            <a:br>
              <a:rPr lang="en-GB" dirty="0"/>
            </a:br>
            <a:r>
              <a:rPr lang="en-GB" b="0" i="0" dirty="0">
                <a:solidFill>
                  <a:srgbClr val="273239"/>
                </a:solidFill>
                <a:effectLst/>
                <a:latin typeface="urw-din"/>
              </a:rPr>
              <a:t>When there are </a:t>
            </a:r>
            <a:r>
              <a:rPr lang="en-GB" b="1" i="0" dirty="0">
                <a:solidFill>
                  <a:srgbClr val="273239"/>
                </a:solidFill>
                <a:effectLst/>
                <a:latin typeface="urw-din"/>
              </a:rPr>
              <a:t>TWO entities set participating in a relationship</a:t>
            </a:r>
            <a:r>
              <a:rPr lang="en-GB" b="0" i="0" dirty="0">
                <a:solidFill>
                  <a:srgbClr val="273239"/>
                </a:solidFill>
                <a:effectLst/>
                <a:latin typeface="urw-din"/>
              </a:rPr>
              <a:t>, the relationship is called a binary relationship. For example, a Student is enrolled in a Course. </a:t>
            </a:r>
          </a:p>
          <a:p>
            <a:r>
              <a:rPr lang="en-GB" b="1" i="0" dirty="0">
                <a:solidFill>
                  <a:srgbClr val="273239"/>
                </a:solidFill>
                <a:effectLst/>
                <a:latin typeface="urw-din"/>
              </a:rPr>
              <a:t>n-</a:t>
            </a:r>
            <a:r>
              <a:rPr lang="en-GB" b="1" i="0" dirty="0" err="1">
                <a:solidFill>
                  <a:srgbClr val="273239"/>
                </a:solidFill>
                <a:effectLst/>
                <a:latin typeface="urw-din"/>
              </a:rPr>
              <a:t>ary</a:t>
            </a:r>
            <a:r>
              <a:rPr lang="en-GB" b="1" i="0" dirty="0">
                <a:solidFill>
                  <a:srgbClr val="273239"/>
                </a:solidFill>
                <a:effectLst/>
                <a:latin typeface="urw-din"/>
              </a:rPr>
              <a:t> Relationship –</a:t>
            </a:r>
            <a:r>
              <a:rPr lang="en-GB" b="0" i="0" dirty="0">
                <a:solidFill>
                  <a:srgbClr val="273239"/>
                </a:solidFill>
                <a:effectLst/>
                <a:latin typeface="urw-din"/>
              </a:rPr>
              <a:t> </a:t>
            </a:r>
            <a:br>
              <a:rPr lang="en-GB" dirty="0"/>
            </a:br>
            <a:r>
              <a:rPr lang="en-GB" b="0" i="0" dirty="0">
                <a:solidFill>
                  <a:srgbClr val="273239"/>
                </a:solidFill>
                <a:effectLst/>
                <a:latin typeface="urw-din"/>
              </a:rPr>
              <a:t>When there are n entities set participating in a relation, the relationship is called an </a:t>
            </a:r>
            <a:r>
              <a:rPr lang="en-GB" b="0" i="0" dirty="0" err="1">
                <a:solidFill>
                  <a:srgbClr val="273239"/>
                </a:solidFill>
                <a:effectLst/>
                <a:latin typeface="urw-din"/>
              </a:rPr>
              <a:t>an</a:t>
            </a:r>
            <a:r>
              <a:rPr lang="en-GB" b="0" i="0" dirty="0">
                <a:solidFill>
                  <a:srgbClr val="273239"/>
                </a:solidFill>
                <a:effectLst/>
                <a:latin typeface="urw-din"/>
              </a:rPr>
              <a:t> n-</a:t>
            </a:r>
            <a:r>
              <a:rPr lang="en-GB" b="0" i="0" dirty="0" err="1">
                <a:solidFill>
                  <a:srgbClr val="273239"/>
                </a:solidFill>
                <a:effectLst/>
                <a:latin typeface="urw-din"/>
              </a:rPr>
              <a:t>ary</a:t>
            </a:r>
            <a:r>
              <a:rPr lang="en-GB" b="0" i="0" dirty="0">
                <a:solidFill>
                  <a:srgbClr val="273239"/>
                </a:solidFill>
                <a:effectLst/>
                <a:latin typeface="urw-din"/>
              </a:rPr>
              <a:t> relationship. </a:t>
            </a:r>
            <a:endParaRPr lang="en-IN" dirty="0"/>
          </a:p>
        </p:txBody>
      </p:sp>
    </p:spTree>
    <p:extLst>
      <p:ext uri="{BB962C8B-B14F-4D97-AF65-F5344CB8AC3E}">
        <p14:creationId xmlns:p14="http://schemas.microsoft.com/office/powerpoint/2010/main" val="3523665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380-C0BA-E9C6-91C3-8E3C5458A73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F73BD3D-4C9B-7158-E6A6-6A4F745D2B4F}"/>
              </a:ext>
            </a:extLst>
          </p:cNvPr>
          <p:cNvSpPr>
            <a:spLocks noGrp="1"/>
          </p:cNvSpPr>
          <p:nvPr>
            <p:ph idx="1"/>
          </p:nvPr>
        </p:nvSpPr>
        <p:spPr/>
        <p:txBody>
          <a:bodyPr/>
          <a:lstStyle/>
          <a:p>
            <a:pPr algn="l" fontAlgn="base"/>
            <a:r>
              <a:rPr lang="en-GB" b="1" i="0" dirty="0">
                <a:solidFill>
                  <a:srgbClr val="273239"/>
                </a:solidFill>
                <a:effectLst/>
                <a:latin typeface="urw-din"/>
              </a:rPr>
              <a:t>Cardinality:</a:t>
            </a:r>
            <a:r>
              <a:rPr lang="en-GB" b="0" i="0" dirty="0">
                <a:solidFill>
                  <a:srgbClr val="273239"/>
                </a:solidFill>
                <a:effectLst/>
                <a:latin typeface="urw-din"/>
              </a:rPr>
              <a:t> </a:t>
            </a:r>
          </a:p>
          <a:p>
            <a:pPr algn="l" fontAlgn="base"/>
            <a:r>
              <a:rPr lang="en-GB" b="0" i="0" dirty="0">
                <a:solidFill>
                  <a:srgbClr val="273239"/>
                </a:solidFill>
                <a:effectLst/>
                <a:latin typeface="urw-din"/>
              </a:rPr>
              <a:t>The </a:t>
            </a:r>
            <a:r>
              <a:rPr lang="en-GB" b="1" i="0" dirty="0">
                <a:solidFill>
                  <a:srgbClr val="273239"/>
                </a:solidFill>
                <a:effectLst/>
                <a:latin typeface="urw-din"/>
              </a:rPr>
              <a:t>number of times an entity of an entity set participates in a relationship</a:t>
            </a:r>
            <a:r>
              <a:rPr lang="en-GB" b="0" i="0" dirty="0">
                <a:solidFill>
                  <a:srgbClr val="273239"/>
                </a:solidFill>
                <a:effectLst/>
                <a:latin typeface="urw-din"/>
              </a:rPr>
              <a:t> set is known as cardinality. Cardinality can be of different types: </a:t>
            </a:r>
          </a:p>
          <a:p>
            <a:pPr algn="l" fontAlgn="base"/>
            <a:r>
              <a:rPr lang="en-GB" b="1" i="0" dirty="0">
                <a:solidFill>
                  <a:srgbClr val="273239"/>
                </a:solidFill>
                <a:effectLst/>
                <a:latin typeface="urw-din"/>
              </a:rPr>
              <a:t>1. One-to-one –</a:t>
            </a:r>
            <a:r>
              <a:rPr lang="en-GB" b="0" i="0" dirty="0">
                <a:solidFill>
                  <a:srgbClr val="273239"/>
                </a:solidFill>
                <a:effectLst/>
                <a:latin typeface="urw-din"/>
              </a:rPr>
              <a:t> When each entity in each entity set can take part </a:t>
            </a:r>
            <a:r>
              <a:rPr lang="en-GB" b="1" i="0" dirty="0">
                <a:solidFill>
                  <a:srgbClr val="273239"/>
                </a:solidFill>
                <a:effectLst/>
                <a:latin typeface="urw-din"/>
              </a:rPr>
              <a:t>only once in the relationship</a:t>
            </a:r>
            <a:r>
              <a:rPr lang="en-GB" b="0" i="0" dirty="0">
                <a:solidFill>
                  <a:srgbClr val="273239"/>
                </a:solidFill>
                <a:effectLst/>
                <a:latin typeface="urw-din"/>
              </a:rPr>
              <a:t>, the cardinality is one-to-one. Let us assume that a male can marry one female and a female can marry one male. So the relationship will be one-to-one. </a:t>
            </a:r>
          </a:p>
          <a:p>
            <a:pPr algn="l" fontAlgn="base"/>
            <a:r>
              <a:rPr lang="en-GB" b="0" i="0" dirty="0">
                <a:solidFill>
                  <a:srgbClr val="273239"/>
                </a:solidFill>
                <a:effectLst/>
                <a:latin typeface="urw-din"/>
              </a:rPr>
              <a:t>the total number of tables that can be used in this is </a:t>
            </a:r>
            <a:r>
              <a:rPr lang="en-GB" b="1" i="0" dirty="0">
                <a:solidFill>
                  <a:srgbClr val="273239"/>
                </a:solidFill>
                <a:effectLst/>
                <a:latin typeface="urw-din"/>
              </a:rPr>
              <a:t>2</a:t>
            </a:r>
            <a:r>
              <a:rPr lang="en-GB" b="0" i="0" dirty="0">
                <a:solidFill>
                  <a:srgbClr val="273239"/>
                </a:solidFill>
                <a:effectLst/>
                <a:latin typeface="urw-din"/>
              </a:rPr>
              <a:t>.</a:t>
            </a:r>
          </a:p>
          <a:p>
            <a:pPr algn="l" fontAlgn="base"/>
            <a:endParaRPr lang="en-GB" b="0" i="0" dirty="0">
              <a:solidFill>
                <a:srgbClr val="273239"/>
              </a:solidFill>
              <a:effectLst/>
              <a:latin typeface="urw-din"/>
            </a:endParaRPr>
          </a:p>
          <a:p>
            <a:endParaRPr lang="en-IN" dirty="0"/>
          </a:p>
        </p:txBody>
      </p:sp>
      <p:pic>
        <p:nvPicPr>
          <p:cNvPr id="5" name="Picture 4">
            <a:extLst>
              <a:ext uri="{FF2B5EF4-FFF2-40B4-BE49-F238E27FC236}">
                <a16:creationId xmlns:a16="http://schemas.microsoft.com/office/drawing/2014/main" id="{61E3E9E7-E7ED-3C6D-F47A-D6244FD521B2}"/>
              </a:ext>
            </a:extLst>
          </p:cNvPr>
          <p:cNvPicPr>
            <a:picLocks noChangeAspect="1"/>
          </p:cNvPicPr>
          <p:nvPr/>
        </p:nvPicPr>
        <p:blipFill>
          <a:blip r:embed="rId2"/>
          <a:stretch>
            <a:fillRect/>
          </a:stretch>
        </p:blipFill>
        <p:spPr>
          <a:xfrm>
            <a:off x="2224506" y="5757665"/>
            <a:ext cx="7179316" cy="987602"/>
          </a:xfrm>
          <a:prstGeom prst="rect">
            <a:avLst/>
          </a:prstGeom>
        </p:spPr>
      </p:pic>
    </p:spTree>
    <p:extLst>
      <p:ext uri="{BB962C8B-B14F-4D97-AF65-F5344CB8AC3E}">
        <p14:creationId xmlns:p14="http://schemas.microsoft.com/office/powerpoint/2010/main" val="1917046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F5D35-E893-867B-462A-7C53AA8ADF7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24CE7EB-5D8F-87F5-7D93-6CBA530EB416}"/>
              </a:ext>
            </a:extLst>
          </p:cNvPr>
          <p:cNvSpPr>
            <a:spLocks noGrp="1"/>
          </p:cNvSpPr>
          <p:nvPr>
            <p:ph idx="1"/>
          </p:nvPr>
        </p:nvSpPr>
        <p:spPr/>
        <p:txBody>
          <a:bodyPr/>
          <a:lstStyle/>
          <a:p>
            <a:pPr algn="l" fontAlgn="base"/>
            <a:r>
              <a:rPr lang="en-GB" b="1" i="0" dirty="0">
                <a:solidFill>
                  <a:srgbClr val="273239"/>
                </a:solidFill>
                <a:effectLst/>
                <a:latin typeface="urw-din"/>
              </a:rPr>
              <a:t>Many to one –</a:t>
            </a:r>
            <a:r>
              <a:rPr lang="en-GB" b="0" i="0" dirty="0">
                <a:solidFill>
                  <a:srgbClr val="273239"/>
                </a:solidFill>
                <a:effectLst/>
                <a:latin typeface="urw-din"/>
              </a:rPr>
              <a:t> When entities in one entity set </a:t>
            </a:r>
            <a:r>
              <a:rPr lang="en-GB" b="1" i="0" dirty="0">
                <a:solidFill>
                  <a:srgbClr val="273239"/>
                </a:solidFill>
                <a:effectLst/>
                <a:latin typeface="urw-din"/>
              </a:rPr>
              <a:t>can take part only once in the relationship set and entities in other entity sets can take part more than once in the relationship set,</a:t>
            </a:r>
            <a:r>
              <a:rPr lang="en-GB" b="0" i="0" dirty="0">
                <a:solidFill>
                  <a:srgbClr val="273239"/>
                </a:solidFill>
                <a:effectLst/>
                <a:latin typeface="urw-din"/>
              </a:rPr>
              <a:t> cardinality is many to one. Let us assume that a student can take only one course but one course can be taken by many students. So the cardinality will be n to 1. It means that for one course there can be n students but for one student, there will be only one course. </a:t>
            </a:r>
          </a:p>
          <a:p>
            <a:pPr algn="l" fontAlgn="base"/>
            <a:r>
              <a:rPr lang="en-GB" b="0" i="0" dirty="0">
                <a:solidFill>
                  <a:srgbClr val="273239"/>
                </a:solidFill>
                <a:effectLst/>
                <a:latin typeface="urw-din"/>
              </a:rPr>
              <a:t>The total number of tables that can be used in this is </a:t>
            </a:r>
            <a:r>
              <a:rPr lang="en-GB" b="1" i="0" dirty="0">
                <a:solidFill>
                  <a:srgbClr val="273239"/>
                </a:solidFill>
                <a:effectLst/>
                <a:latin typeface="urw-din"/>
              </a:rPr>
              <a:t>3</a:t>
            </a:r>
            <a:r>
              <a:rPr lang="en-GB" b="0" i="0" dirty="0">
                <a:solidFill>
                  <a:srgbClr val="273239"/>
                </a:solidFill>
                <a:effectLst/>
                <a:latin typeface="urw-din"/>
              </a:rPr>
              <a:t>.</a:t>
            </a:r>
          </a:p>
          <a:p>
            <a:endParaRPr lang="en-IN" dirty="0"/>
          </a:p>
        </p:txBody>
      </p:sp>
    </p:spTree>
    <p:extLst>
      <p:ext uri="{BB962C8B-B14F-4D97-AF65-F5344CB8AC3E}">
        <p14:creationId xmlns:p14="http://schemas.microsoft.com/office/powerpoint/2010/main" val="1148656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02DF0-CD9D-8E87-C781-EE462CD38E8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A81C37F-A982-4977-3FF9-36FF17591DF5}"/>
              </a:ext>
            </a:extLst>
          </p:cNvPr>
          <p:cNvPicPr>
            <a:picLocks noGrp="1" noChangeAspect="1"/>
          </p:cNvPicPr>
          <p:nvPr>
            <p:ph idx="1"/>
          </p:nvPr>
        </p:nvPicPr>
        <p:blipFill>
          <a:blip r:embed="rId2"/>
          <a:stretch>
            <a:fillRect/>
          </a:stretch>
        </p:blipFill>
        <p:spPr>
          <a:xfrm>
            <a:off x="2729505" y="3326362"/>
            <a:ext cx="6732990" cy="1349864"/>
          </a:xfrm>
        </p:spPr>
      </p:pic>
    </p:spTree>
    <p:extLst>
      <p:ext uri="{BB962C8B-B14F-4D97-AF65-F5344CB8AC3E}">
        <p14:creationId xmlns:p14="http://schemas.microsoft.com/office/powerpoint/2010/main" val="247396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DE6C4-5764-7959-1B12-C614512287B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8E7C1C0-7B2B-FCD1-50BC-807C3F043A55}"/>
              </a:ext>
            </a:extLst>
          </p:cNvPr>
          <p:cNvSpPr>
            <a:spLocks noGrp="1"/>
          </p:cNvSpPr>
          <p:nvPr>
            <p:ph idx="1"/>
          </p:nvPr>
        </p:nvSpPr>
        <p:spPr/>
        <p:txBody>
          <a:bodyPr/>
          <a:lstStyle/>
          <a:p>
            <a:pPr algn="l" fontAlgn="base"/>
            <a:r>
              <a:rPr lang="en-GB" b="1" i="0" dirty="0">
                <a:solidFill>
                  <a:srgbClr val="273239"/>
                </a:solidFill>
                <a:effectLst/>
                <a:latin typeface="urw-din"/>
              </a:rPr>
              <a:t>Many to many –</a:t>
            </a:r>
            <a:r>
              <a:rPr lang="en-GB" b="0" i="0" dirty="0">
                <a:solidFill>
                  <a:srgbClr val="273239"/>
                </a:solidFill>
                <a:effectLst/>
                <a:latin typeface="urw-din"/>
              </a:rPr>
              <a:t> When entities in all entity sets can </a:t>
            </a:r>
            <a:r>
              <a:rPr lang="en-GB" b="1" i="0" dirty="0">
                <a:solidFill>
                  <a:srgbClr val="273239"/>
                </a:solidFill>
                <a:effectLst/>
                <a:latin typeface="urw-din"/>
              </a:rPr>
              <a:t>take part more than once in the relationship</a:t>
            </a:r>
            <a:r>
              <a:rPr lang="en-GB" b="0" i="0" dirty="0">
                <a:solidFill>
                  <a:srgbClr val="273239"/>
                </a:solidFill>
                <a:effectLst/>
                <a:latin typeface="urw-din"/>
              </a:rPr>
              <a:t> cardinality is many to many. Let us assume that a student can take more than one course and one course can be taken by many students. So the relationship will be many to many. </a:t>
            </a:r>
          </a:p>
          <a:p>
            <a:pPr algn="l" fontAlgn="base"/>
            <a:r>
              <a:rPr lang="en-GB" b="0" i="0" dirty="0">
                <a:solidFill>
                  <a:srgbClr val="273239"/>
                </a:solidFill>
                <a:effectLst/>
                <a:latin typeface="urw-din"/>
              </a:rPr>
              <a:t>the total number of tables that can be used in this is </a:t>
            </a:r>
            <a:r>
              <a:rPr lang="en-GB" b="1" i="0" dirty="0">
                <a:solidFill>
                  <a:srgbClr val="273239"/>
                </a:solidFill>
                <a:effectLst/>
                <a:latin typeface="urw-din"/>
              </a:rPr>
              <a:t>3</a:t>
            </a:r>
            <a:r>
              <a:rPr lang="en-GB" b="0" i="0" dirty="0">
                <a:solidFill>
                  <a:srgbClr val="273239"/>
                </a:solidFill>
                <a:effectLst/>
                <a:latin typeface="urw-din"/>
              </a:rPr>
              <a:t>.</a:t>
            </a:r>
          </a:p>
          <a:p>
            <a:endParaRPr lang="en-IN" dirty="0"/>
          </a:p>
        </p:txBody>
      </p:sp>
      <p:pic>
        <p:nvPicPr>
          <p:cNvPr id="5" name="Picture 4">
            <a:extLst>
              <a:ext uri="{FF2B5EF4-FFF2-40B4-BE49-F238E27FC236}">
                <a16:creationId xmlns:a16="http://schemas.microsoft.com/office/drawing/2014/main" id="{3386FAA5-16FD-B76A-DDFE-FC53608537F7}"/>
              </a:ext>
            </a:extLst>
          </p:cNvPr>
          <p:cNvPicPr>
            <a:picLocks noChangeAspect="1"/>
          </p:cNvPicPr>
          <p:nvPr/>
        </p:nvPicPr>
        <p:blipFill>
          <a:blip r:embed="rId2"/>
          <a:stretch>
            <a:fillRect/>
          </a:stretch>
        </p:blipFill>
        <p:spPr>
          <a:xfrm>
            <a:off x="2265780" y="4394419"/>
            <a:ext cx="6771091" cy="1300877"/>
          </a:xfrm>
          <a:prstGeom prst="rect">
            <a:avLst/>
          </a:prstGeom>
        </p:spPr>
      </p:pic>
    </p:spTree>
    <p:extLst>
      <p:ext uri="{BB962C8B-B14F-4D97-AF65-F5344CB8AC3E}">
        <p14:creationId xmlns:p14="http://schemas.microsoft.com/office/powerpoint/2010/main" val="1749215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B8A94-3473-2C4F-2C08-6F24A74400A2}"/>
              </a:ext>
            </a:extLst>
          </p:cNvPr>
          <p:cNvSpPr>
            <a:spLocks noGrp="1"/>
          </p:cNvSpPr>
          <p:nvPr>
            <p:ph type="title"/>
          </p:nvPr>
        </p:nvSpPr>
        <p:spPr/>
        <p:txBody>
          <a:bodyPr/>
          <a:lstStyle/>
          <a:p>
            <a:r>
              <a:rPr lang="en-GB" dirty="0"/>
              <a:t>Data Types</a:t>
            </a:r>
            <a:endParaRPr lang="en-IN" dirty="0"/>
          </a:p>
        </p:txBody>
      </p:sp>
      <p:sp>
        <p:nvSpPr>
          <p:cNvPr id="3" name="Content Placeholder 2">
            <a:extLst>
              <a:ext uri="{FF2B5EF4-FFF2-40B4-BE49-F238E27FC236}">
                <a16:creationId xmlns:a16="http://schemas.microsoft.com/office/drawing/2014/main" id="{D684267E-81BD-FF03-3AFF-95DF14587DA8}"/>
              </a:ext>
            </a:extLst>
          </p:cNvPr>
          <p:cNvSpPr>
            <a:spLocks noGrp="1"/>
          </p:cNvSpPr>
          <p:nvPr>
            <p:ph idx="1"/>
          </p:nvPr>
        </p:nvSpPr>
        <p:spPr/>
        <p:txBody>
          <a:bodyPr/>
          <a:lstStyle/>
          <a:p>
            <a:pPr algn="just">
              <a:buFont typeface="Arial" panose="020B0604020202020204" pitchFamily="34" charset="0"/>
              <a:buChar char="•"/>
            </a:pPr>
            <a:r>
              <a:rPr lang="en-GB" b="0" i="0" dirty="0">
                <a:solidFill>
                  <a:srgbClr val="000000"/>
                </a:solidFill>
                <a:effectLst/>
                <a:latin typeface="inter-regular"/>
              </a:rPr>
              <a:t>SQL Datatype is used to define the values that a column can contain.</a:t>
            </a:r>
          </a:p>
          <a:p>
            <a:pPr algn="just">
              <a:buFont typeface="Arial" panose="020B0604020202020204" pitchFamily="34" charset="0"/>
              <a:buChar char="•"/>
            </a:pPr>
            <a:r>
              <a:rPr lang="en-GB" b="0" i="0" dirty="0">
                <a:solidFill>
                  <a:srgbClr val="000000"/>
                </a:solidFill>
                <a:effectLst/>
                <a:latin typeface="inter-regular"/>
              </a:rPr>
              <a:t>Every column is required to have a name and data type in the database table.</a:t>
            </a:r>
          </a:p>
          <a:p>
            <a:endParaRPr lang="en-IN" dirty="0"/>
          </a:p>
        </p:txBody>
      </p:sp>
      <p:pic>
        <p:nvPicPr>
          <p:cNvPr id="5" name="Picture 4">
            <a:extLst>
              <a:ext uri="{FF2B5EF4-FFF2-40B4-BE49-F238E27FC236}">
                <a16:creationId xmlns:a16="http://schemas.microsoft.com/office/drawing/2014/main" id="{F70AF43A-EC09-529E-72B8-C023518B029F}"/>
              </a:ext>
            </a:extLst>
          </p:cNvPr>
          <p:cNvPicPr>
            <a:picLocks noChangeAspect="1"/>
          </p:cNvPicPr>
          <p:nvPr/>
        </p:nvPicPr>
        <p:blipFill>
          <a:blip r:embed="rId2"/>
          <a:stretch>
            <a:fillRect/>
          </a:stretch>
        </p:blipFill>
        <p:spPr>
          <a:xfrm>
            <a:off x="3303397" y="3429000"/>
            <a:ext cx="6286664" cy="2797702"/>
          </a:xfrm>
          <a:prstGeom prst="rect">
            <a:avLst/>
          </a:prstGeom>
        </p:spPr>
      </p:pic>
    </p:spTree>
    <p:extLst>
      <p:ext uri="{BB962C8B-B14F-4D97-AF65-F5344CB8AC3E}">
        <p14:creationId xmlns:p14="http://schemas.microsoft.com/office/powerpoint/2010/main" val="32153417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5D293-BF0C-BA43-8C86-304BE0A0E2D5}"/>
              </a:ext>
            </a:extLst>
          </p:cNvPr>
          <p:cNvSpPr>
            <a:spLocks noGrp="1"/>
          </p:cNvSpPr>
          <p:nvPr>
            <p:ph type="title"/>
          </p:nvPr>
        </p:nvSpPr>
        <p:spPr/>
        <p:txBody>
          <a:bodyPr/>
          <a:lstStyle/>
          <a:p>
            <a:r>
              <a:rPr lang="en-GB" dirty="0"/>
              <a:t>Constraints</a:t>
            </a:r>
            <a:endParaRPr lang="en-IN" dirty="0"/>
          </a:p>
        </p:txBody>
      </p:sp>
      <p:sp>
        <p:nvSpPr>
          <p:cNvPr id="3" name="Content Placeholder 2">
            <a:extLst>
              <a:ext uri="{FF2B5EF4-FFF2-40B4-BE49-F238E27FC236}">
                <a16:creationId xmlns:a16="http://schemas.microsoft.com/office/drawing/2014/main" id="{ADED450F-EBB1-E773-2724-04BC7261E569}"/>
              </a:ext>
            </a:extLst>
          </p:cNvPr>
          <p:cNvSpPr>
            <a:spLocks noGrp="1"/>
          </p:cNvSpPr>
          <p:nvPr>
            <p:ph idx="1"/>
          </p:nvPr>
        </p:nvSpPr>
        <p:spPr/>
        <p:txBody>
          <a:bodyPr/>
          <a:lstStyle/>
          <a:p>
            <a:pPr algn="l" fontAlgn="base"/>
            <a:r>
              <a:rPr lang="en-GB" b="0" i="0" dirty="0">
                <a:solidFill>
                  <a:srgbClr val="273239"/>
                </a:solidFill>
                <a:effectLst/>
                <a:latin typeface="urw-din"/>
              </a:rPr>
              <a:t>In DBMS, constraints are the set of rules that ensures that when an authorized user modifies the database they do not disturb the data consistency and the constraints are specified within the DDL commands like “alter” and “create” command. There are several types of constraints available in DBMS and they are:</a:t>
            </a:r>
          </a:p>
          <a:p>
            <a:pPr algn="l" fontAlgn="base">
              <a:buFont typeface="Arial" panose="020B0604020202020204" pitchFamily="34" charset="0"/>
              <a:buChar char="•"/>
            </a:pPr>
            <a:r>
              <a:rPr lang="en-GB" b="0" i="0" dirty="0">
                <a:solidFill>
                  <a:srgbClr val="273239"/>
                </a:solidFill>
                <a:effectLst/>
                <a:latin typeface="urw-din"/>
              </a:rPr>
              <a:t>Domain constraints</a:t>
            </a:r>
          </a:p>
          <a:p>
            <a:pPr algn="l" fontAlgn="base">
              <a:buFont typeface="Arial" panose="020B0604020202020204" pitchFamily="34" charset="0"/>
              <a:buChar char="•"/>
            </a:pPr>
            <a:r>
              <a:rPr lang="en-GB" b="0" i="0" dirty="0">
                <a:solidFill>
                  <a:srgbClr val="273239"/>
                </a:solidFill>
                <a:effectLst/>
                <a:latin typeface="urw-din"/>
              </a:rPr>
              <a:t>Entity Integrity constraints</a:t>
            </a:r>
          </a:p>
          <a:p>
            <a:pPr algn="l" fontAlgn="base">
              <a:buFont typeface="Arial" panose="020B0604020202020204" pitchFamily="34" charset="0"/>
              <a:buChar char="•"/>
            </a:pPr>
            <a:r>
              <a:rPr lang="en-GB" b="0" i="0" dirty="0">
                <a:solidFill>
                  <a:srgbClr val="273239"/>
                </a:solidFill>
                <a:effectLst/>
                <a:latin typeface="urw-din"/>
              </a:rPr>
              <a:t>Referential Integrity constraints</a:t>
            </a:r>
          </a:p>
          <a:p>
            <a:pPr algn="l" fontAlgn="base">
              <a:buFont typeface="Arial" panose="020B0604020202020204" pitchFamily="34" charset="0"/>
              <a:buChar char="•"/>
            </a:pPr>
            <a:r>
              <a:rPr lang="en-GB" b="0" i="0" dirty="0">
                <a:solidFill>
                  <a:srgbClr val="273239"/>
                </a:solidFill>
                <a:effectLst/>
                <a:latin typeface="urw-din"/>
              </a:rPr>
              <a:t>Key constraints</a:t>
            </a:r>
          </a:p>
          <a:p>
            <a:endParaRPr lang="en-IN" dirty="0"/>
          </a:p>
        </p:txBody>
      </p:sp>
    </p:spTree>
    <p:extLst>
      <p:ext uri="{BB962C8B-B14F-4D97-AF65-F5344CB8AC3E}">
        <p14:creationId xmlns:p14="http://schemas.microsoft.com/office/powerpoint/2010/main" val="3677712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3863D-919F-3213-CF2B-2CDE8CD6617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EB34C43-7DA3-855D-A8C3-E5A61B01AA8A}"/>
              </a:ext>
            </a:extLst>
          </p:cNvPr>
          <p:cNvPicPr>
            <a:picLocks noGrp="1" noChangeAspect="1"/>
          </p:cNvPicPr>
          <p:nvPr>
            <p:ph idx="1"/>
          </p:nvPr>
        </p:nvPicPr>
        <p:blipFill>
          <a:blip r:embed="rId2"/>
          <a:stretch>
            <a:fillRect/>
          </a:stretch>
        </p:blipFill>
        <p:spPr>
          <a:xfrm>
            <a:off x="1064712" y="2160740"/>
            <a:ext cx="9110816" cy="3432131"/>
          </a:xfrm>
        </p:spPr>
      </p:pic>
    </p:spTree>
    <p:extLst>
      <p:ext uri="{BB962C8B-B14F-4D97-AF65-F5344CB8AC3E}">
        <p14:creationId xmlns:p14="http://schemas.microsoft.com/office/powerpoint/2010/main" val="825232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9641B-FFC7-31A5-239B-2AC3BCF203AB}"/>
              </a:ext>
            </a:extLst>
          </p:cNvPr>
          <p:cNvSpPr>
            <a:spLocks noGrp="1"/>
          </p:cNvSpPr>
          <p:nvPr>
            <p:ph type="title"/>
          </p:nvPr>
        </p:nvSpPr>
        <p:spPr/>
        <p:txBody>
          <a:bodyPr/>
          <a:lstStyle/>
          <a:p>
            <a:r>
              <a:rPr lang="en-GB" dirty="0"/>
              <a:t>Relational Algebra</a:t>
            </a:r>
            <a:endParaRPr lang="en-IN" dirty="0"/>
          </a:p>
        </p:txBody>
      </p:sp>
      <p:sp>
        <p:nvSpPr>
          <p:cNvPr id="3" name="Content Placeholder 2">
            <a:extLst>
              <a:ext uri="{FF2B5EF4-FFF2-40B4-BE49-F238E27FC236}">
                <a16:creationId xmlns:a16="http://schemas.microsoft.com/office/drawing/2014/main" id="{75FBFEBA-25BF-F5EA-1168-1BA53119A59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0270784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1543</Words>
  <Application>Microsoft Office PowerPoint</Application>
  <PresentationFormat>Widescreen</PresentationFormat>
  <Paragraphs>65</Paragraphs>
  <Slides>24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Calibri</vt:lpstr>
      <vt:lpstr>Calibri Light</vt:lpstr>
      <vt:lpstr>IBM Plex Sans</vt:lpstr>
      <vt:lpstr>inherit</vt:lpstr>
      <vt:lpstr>inter-bold</vt:lpstr>
      <vt:lpstr>inter-regular</vt:lpstr>
      <vt:lpstr>Nunito</vt:lpstr>
      <vt:lpstr>urw-din</vt:lpstr>
      <vt:lpstr>Office Theme</vt:lpstr>
      <vt:lpstr>UNIT-2</vt:lpstr>
      <vt:lpstr>Relational Model</vt:lpstr>
      <vt:lpstr>PowerPoint Presentation</vt:lpstr>
      <vt:lpstr>Properties of relation</vt:lpstr>
      <vt:lpstr>Database schema</vt:lpstr>
      <vt:lpstr>Types of Database schemas</vt:lpstr>
      <vt:lpstr>Database Instance</vt:lpstr>
      <vt:lpstr>PowerPoint Presentation</vt:lpstr>
      <vt:lpstr>PowerPoint Presentation</vt:lpstr>
      <vt:lpstr>Database schema vs. database instance </vt:lpstr>
      <vt:lpstr>Attributes</vt:lpstr>
      <vt:lpstr>PowerPoint Presentation</vt:lpstr>
      <vt:lpstr>PowerPoint Presentation</vt:lpstr>
      <vt:lpstr>Relationship Type and Relationship Set</vt:lpstr>
      <vt:lpstr>Degree of Relationship set</vt:lpstr>
      <vt:lpstr>PowerPoint Presentation</vt:lpstr>
      <vt:lpstr>PowerPoint Presentation</vt:lpstr>
      <vt:lpstr>PowerPoint Presentation</vt:lpstr>
      <vt:lpstr>PowerPoint Presentation</vt:lpstr>
      <vt:lpstr>PowerPoint Presentation</vt:lpstr>
      <vt:lpstr>Data Types</vt:lpstr>
      <vt:lpstr>Constraints</vt:lpstr>
      <vt:lpstr>PowerPoint Presentation</vt:lpstr>
      <vt:lpstr>Relational Algebra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UNIT-2</dc:title>
  <dc:creator>Naman Yadav_Delhi</dc:creator>
  <cp:lastModifiedBy>Naman Yadav_Delhi</cp:lastModifiedBy>
  <cp:revision>22</cp:revision>
  <dcterms:created xsi:type="dcterms:W3CDTF">2023-02-27T04:59:08Z</dcterms:created>
  <dcterms:modified xsi:type="dcterms:W3CDTF">2023-02-28T06:49:21Z</dcterms:modified>
</cp:coreProperties>
</file>